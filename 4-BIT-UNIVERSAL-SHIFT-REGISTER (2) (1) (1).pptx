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2" r:id="rId16"/>
    <p:sldId id="270" r:id="rId17"/>
    <p:sldId id="271" r:id="rId18"/>
  </p:sldIdLst>
  <p:sldSz cx="12192000" cy="6858000"/>
  <p:notesSz cx="6858000" cy="12192000"/>
  <p:embeddedFontLst>
    <p:embeddedFont>
      <p:font typeface="Merriweather" panose="00000500000000000000" pitchFamily="2" charset="0"/>
      <p:regular r:id="rId20"/>
    </p:embeddedFont>
    <p:embeddedFont>
      <p:font typeface="Merriweather Bold" panose="020B0604020202020204" charset="0"/>
      <p:regular r:id="rId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82" y="1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97583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6.sv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jpeg"/><Relationship Id="rId7"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9.svg"/></Relationships>
</file>

<file path=ppt/slides/_rels/slide12.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5.svg"/><Relationship Id="rId4" Type="http://schemas.openxmlformats.org/officeDocument/2006/relationships/image" Target="../media/image24.svg"/></Relationships>
</file>

<file path=ppt/slides/_rels/slide1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6.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36.svg"/><Relationship Id="rId5" Type="http://schemas.openxmlformats.org/officeDocument/2006/relationships/image" Target="../media/image35.svg"/><Relationship Id="rId4" Type="http://schemas.openxmlformats.org/officeDocument/2006/relationships/image" Target="../media/image34.svg"/></Relationships>
</file>

<file path=ppt/slides/_rels/slide17.xml.rels><?xml version="1.0" encoding="UTF-8" standalone="yes"?>
<Relationships xmlns="http://schemas.openxmlformats.org/package/2006/relationships"><Relationship Id="rId3" Type="http://schemas.openxmlformats.org/officeDocument/2006/relationships/hyperlink" Target="https://www.elprocus.com/what-is-universal-shift-register-its-working/"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hyperlink" Target="https://en.wikipedia.org/wiki/Shift_register" TargetMode="External"/><Relationship Id="rId4" Type="http://schemas.openxmlformats.org/officeDocument/2006/relationships/hyperlink" Target="https://github.com/DebanganaMukherjee/iiitb_usr"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60977"/>
          </a:xfrm>
          <a:prstGeom prst="rect">
            <a:avLst/>
          </a:prstGeom>
        </p:spPr>
      </p:pic>
      <p:sp>
        <p:nvSpPr>
          <p:cNvPr id="3" name="Text 0"/>
          <p:cNvSpPr/>
          <p:nvPr/>
        </p:nvSpPr>
        <p:spPr>
          <a:xfrm>
            <a:off x="719814" y="565646"/>
            <a:ext cx="6180181" cy="1579959"/>
          </a:xfrm>
          <a:prstGeom prst="rect">
            <a:avLst/>
          </a:prstGeom>
          <a:noFill/>
          <a:ln/>
        </p:spPr>
        <p:txBody>
          <a:bodyPr wrap="square" lIns="0" tIns="0" rIns="0" bIns="0" rtlCol="0" anchor="t">
            <a:normAutofit/>
          </a:bodyPr>
          <a:lstStyle/>
          <a:p>
            <a:pPr marL="0" indent="0" algn="l">
              <a:lnSpc>
                <a:spcPct val="104000"/>
              </a:lnSpc>
              <a:buNone/>
            </a:pPr>
            <a:r>
              <a:rPr lang="en-US" sz="4950" dirty="0">
                <a:solidFill>
                  <a:srgbClr val="F5F0F0"/>
                </a:solidFill>
                <a:latin typeface="Merriweather" pitchFamily="34" charset="0"/>
                <a:ea typeface="Merriweather" pitchFamily="34" charset="-122"/>
                <a:cs typeface="Merriweather" pitchFamily="34" charset="-120"/>
              </a:rPr>
              <a:t>4-BIT UNIVERSAL SHIFT REGISTER</a:t>
            </a:r>
            <a:endParaRPr lang="en-US" sz="4950" dirty="0"/>
          </a:p>
        </p:txBody>
      </p:sp>
      <p:sp>
        <p:nvSpPr>
          <p:cNvPr id="4" name="Text 1"/>
          <p:cNvSpPr/>
          <p:nvPr/>
        </p:nvSpPr>
        <p:spPr>
          <a:xfrm>
            <a:off x="719814" y="2390279"/>
            <a:ext cx="6180181" cy="343495"/>
          </a:xfrm>
          <a:prstGeom prst="rect">
            <a:avLst/>
          </a:prstGeom>
          <a:noFill/>
          <a:ln/>
        </p:spPr>
        <p:txBody>
          <a:bodyPr wrap="none" lIns="0" tIns="0" rIns="0" bIns="0" rtlCol="0" anchor="t"/>
          <a:lstStyle/>
          <a:p>
            <a:pPr marL="0" indent="0" algn="l">
              <a:lnSpc>
                <a:spcPct val="104000"/>
              </a:lnSpc>
              <a:buNone/>
            </a:pPr>
            <a:r>
              <a:rPr lang="en-US" sz="2150" dirty="0">
                <a:solidFill>
                  <a:srgbClr val="F5F0F0"/>
                </a:solidFill>
                <a:latin typeface="Merriweather" pitchFamily="34" charset="0"/>
                <a:ea typeface="Merriweather" pitchFamily="34" charset="-122"/>
                <a:cs typeface="Merriweather" pitchFamily="34" charset="-120"/>
              </a:rPr>
              <a:t>Design &amp; Simulation Using Logic Gates</a:t>
            </a:r>
            <a:endParaRPr lang="en-US" sz="2150" dirty="0"/>
          </a:p>
        </p:txBody>
      </p:sp>
      <p:sp>
        <p:nvSpPr>
          <p:cNvPr id="5" name="Text 2"/>
          <p:cNvSpPr/>
          <p:nvPr/>
        </p:nvSpPr>
        <p:spPr>
          <a:xfrm>
            <a:off x="719814" y="2978448"/>
            <a:ext cx="6180181" cy="3316883"/>
          </a:xfrm>
          <a:prstGeom prst="rect">
            <a:avLst/>
          </a:prstGeom>
          <a:noFill/>
          <a:ln/>
        </p:spPr>
        <p:txBody>
          <a:bodyPr wrap="square" lIns="0" tIns="0" rIns="0" bIns="0" rtlCol="0" anchor="t">
            <a:normAutofit/>
          </a:bodyPr>
          <a:lstStyle/>
          <a:p>
            <a:pPr marL="0" indent="0" algn="l">
              <a:lnSpc>
                <a:spcPct val="126000"/>
              </a:lnSpc>
              <a:spcAft>
                <a:spcPts val="1400"/>
              </a:spcAft>
              <a:buNone/>
            </a:pPr>
            <a:r>
              <a:rPr lang="en-US" sz="1400" dirty="0">
                <a:solidFill>
                  <a:srgbClr val="E2E6E9"/>
                </a:solidFill>
                <a:latin typeface="Merriweather" pitchFamily="34" charset="0"/>
                <a:ea typeface="Merriweather" pitchFamily="34" charset="-122"/>
                <a:cs typeface="Merriweather" pitchFamily="34" charset="-120"/>
              </a:rPr>
              <a:t>     </a:t>
            </a:r>
            <a:endParaRPr lang="en-US" sz="1400" dirty="0"/>
          </a:p>
          <a:p>
            <a:pPr marL="0" indent="0" algn="l">
              <a:lnSpc>
                <a:spcPct val="126000"/>
              </a:lnSpc>
              <a:spcAft>
                <a:spcPts val="1400"/>
              </a:spcAft>
              <a:buNone/>
            </a:pPr>
            <a:r>
              <a:rPr lang="en-US" sz="1400" dirty="0">
                <a:solidFill>
                  <a:srgbClr val="E2E6E9"/>
                </a:solidFill>
                <a:latin typeface="Merriweather" pitchFamily="34" charset="0"/>
                <a:ea typeface="Merriweather" pitchFamily="34" charset="-122"/>
                <a:cs typeface="Merriweather" pitchFamily="34" charset="-120"/>
              </a:rPr>
              <a:t>K Aditya, Nanla Pranav, Goutham Kandula, Sariday Ganesh Sri Krishna, </a:t>
            </a:r>
            <a:r>
              <a:rPr lang="en-US" sz="1400">
                <a:solidFill>
                  <a:srgbClr val="E2E6E9"/>
                </a:solidFill>
                <a:latin typeface="Merriweather" pitchFamily="34" charset="0"/>
                <a:ea typeface="Merriweather" pitchFamily="34" charset="-122"/>
                <a:cs typeface="Merriweather" pitchFamily="34" charset="-120"/>
              </a:rPr>
              <a:t>Shanmuk Hiranya</a:t>
            </a:r>
            <a:endParaRPr lang="en-US" sz="1400" dirty="0"/>
          </a:p>
          <a:p>
            <a:pPr marL="0" indent="0" algn="l">
              <a:lnSpc>
                <a:spcPct val="126000"/>
              </a:lnSpc>
              <a:spcAft>
                <a:spcPts val="1400"/>
              </a:spcAft>
              <a:buNone/>
            </a:pPr>
            <a:r>
              <a:rPr lang="en-US" sz="1400" dirty="0">
                <a:solidFill>
                  <a:srgbClr val="E2E6E9"/>
                </a:solidFill>
                <a:latin typeface="Merriweather" pitchFamily="34" charset="0"/>
                <a:ea typeface="Merriweather" pitchFamily="34" charset="-122"/>
                <a:cs typeface="Merriweather" pitchFamily="34" charset="-120"/>
              </a:rPr>
              <a:t>Subject: DDCA (Digital Design &amp; Computer Architecture)</a:t>
            </a:r>
            <a:endParaRPr lang="en-US" sz="1400" dirty="0"/>
          </a:p>
          <a:p>
            <a:pPr marL="0" indent="0" algn="l">
              <a:lnSpc>
                <a:spcPct val="126000"/>
              </a:lnSpc>
              <a:spcAft>
                <a:spcPts val="1400"/>
              </a:spcAft>
              <a:buNone/>
            </a:pPr>
            <a:r>
              <a:rPr lang="en-US" sz="1400" dirty="0">
                <a:solidFill>
                  <a:srgbClr val="E2E6E9"/>
                </a:solidFill>
                <a:latin typeface="Merriweather" pitchFamily="34" charset="0"/>
                <a:ea typeface="Merriweather" pitchFamily="34" charset="-122"/>
                <a:cs typeface="Merriweather" pitchFamily="34" charset="-120"/>
              </a:rPr>
              <a:t>Lecturer: Professor Karthik</a:t>
            </a:r>
            <a:endParaRPr lang="en-US" sz="1400" dirty="0"/>
          </a:p>
          <a:p>
            <a:pPr marL="0" indent="0" algn="l">
              <a:lnSpc>
                <a:spcPct val="126000"/>
              </a:lnSpc>
              <a:spcAft>
                <a:spcPts val="1400"/>
              </a:spcAft>
              <a:buNone/>
            </a:pPr>
            <a:r>
              <a:rPr lang="en-US" sz="1400" dirty="0">
                <a:solidFill>
                  <a:srgbClr val="E2E6E9"/>
                </a:solidFill>
                <a:latin typeface="Merriweather" pitchFamily="34" charset="0"/>
                <a:ea typeface="Merriweather" pitchFamily="34" charset="-122"/>
                <a:cs typeface="Merriweather" pitchFamily="34" charset="-120"/>
              </a:rPr>
              <a:t>Department: Electronics &amp; Communication Engineering</a:t>
            </a:r>
            <a:endParaRPr lang="en-US" sz="1400" dirty="0"/>
          </a:p>
          <a:p>
            <a:pPr marL="0" indent="0" algn="l">
              <a:lnSpc>
                <a:spcPct val="126000"/>
              </a:lnSpc>
              <a:spcAft>
                <a:spcPts val="1400"/>
              </a:spcAft>
              <a:buNone/>
            </a:pPr>
            <a:r>
              <a:rPr lang="en-US" sz="1400" dirty="0">
                <a:solidFill>
                  <a:srgbClr val="E2E6E9"/>
                </a:solidFill>
                <a:latin typeface="Merriweather" pitchFamily="34" charset="0"/>
              </a:rPr>
              <a:t>College: KLH, </a:t>
            </a:r>
            <a:r>
              <a:rPr lang="en-US" sz="1400" dirty="0" err="1">
                <a:solidFill>
                  <a:srgbClr val="E2E6E9"/>
                </a:solidFill>
                <a:latin typeface="Merriweather" pitchFamily="34" charset="0"/>
              </a:rPr>
              <a:t>Bachupally</a:t>
            </a:r>
            <a:endParaRPr lang="en-US" sz="1400" dirty="0"/>
          </a:p>
          <a:p>
            <a:pPr marL="0" indent="0" algn="l">
              <a:lnSpc>
                <a:spcPct val="126000"/>
              </a:lnSpc>
              <a:buNone/>
            </a:pPr>
            <a:r>
              <a:rPr lang="en-US" sz="1400" dirty="0">
                <a:solidFill>
                  <a:srgbClr val="E2E6E9"/>
                </a:solidFill>
                <a:latin typeface="Merriweather" pitchFamily="34" charset="0"/>
                <a:ea typeface="Merriweather" pitchFamily="34" charset="-122"/>
                <a:cs typeface="Merriweather" pitchFamily="34" charset="-120"/>
              </a:rPr>
              <a:t>Academic Year: 2026-2027</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719814" y="1159073"/>
            <a:ext cx="6180181" cy="1928217"/>
          </a:xfrm>
          <a:prstGeom prst="rect">
            <a:avLst/>
          </a:prstGeom>
          <a:noFill/>
          <a:ln/>
        </p:spPr>
        <p:txBody>
          <a:bodyPr wrap="square" lIns="0" tIns="0" rIns="0" bIns="0" rtlCol="0" anchor="t">
            <a:normAutofit/>
          </a:bodyPr>
          <a:lstStyle/>
          <a:p>
            <a:pPr marL="0" indent="0" algn="l">
              <a:lnSpc>
                <a:spcPct val="104000"/>
              </a:lnSpc>
              <a:buNone/>
            </a:pPr>
            <a:r>
              <a:rPr lang="en-US" sz="4000" dirty="0">
                <a:solidFill>
                  <a:srgbClr val="F5F0F0"/>
                </a:solidFill>
                <a:latin typeface="Merriweather" pitchFamily="34" charset="0"/>
                <a:ea typeface="Merriweather" pitchFamily="34" charset="-122"/>
                <a:cs typeface="Merriweather" pitchFamily="34" charset="-120"/>
              </a:rPr>
              <a:t>Shift Registers: Foundation of Digital Data Flow</a:t>
            </a:r>
            <a:endParaRPr lang="en-US" sz="4000" dirty="0"/>
          </a:p>
        </p:txBody>
      </p:sp>
      <p:sp>
        <p:nvSpPr>
          <p:cNvPr id="4" name="Text 1"/>
          <p:cNvSpPr/>
          <p:nvPr/>
        </p:nvSpPr>
        <p:spPr>
          <a:xfrm>
            <a:off x="719814" y="3395762"/>
            <a:ext cx="6180181" cy="2303066"/>
          </a:xfrm>
          <a:prstGeom prst="rect">
            <a:avLst/>
          </a:prstGeom>
          <a:noFill/>
          <a:ln/>
        </p:spPr>
        <p:txBody>
          <a:bodyPr wrap="square" lIns="0" tIns="0" rIns="0" bIns="0" rtlCol="0" anchor="t">
            <a:normAutofit/>
          </a:bodyPr>
          <a:lstStyle/>
          <a:p>
            <a:pPr marL="0" indent="0" algn="l">
              <a:lnSpc>
                <a:spcPct val="133000"/>
              </a:lnSpc>
              <a:buNone/>
            </a:pPr>
            <a:r>
              <a:rPr lang="en-US" sz="1600" dirty="0">
                <a:solidFill>
                  <a:srgbClr val="E2E6E9"/>
                </a:solidFill>
                <a:latin typeface="Merriweather" pitchFamily="34" charset="0"/>
                <a:ea typeface="Merriweather" pitchFamily="34" charset="-122"/>
                <a:cs typeface="Merriweather" pitchFamily="34" charset="-120"/>
              </a:rPr>
              <a:t>Shift registers are fundamental components in digital electronics, enabling sequential data storage and manipulation. Their evolution from basic serial-in/serial-out structures to advanced universal designs has been pivotal. Today, they are critical for efficient data transfer, arithmetic operations within CPUs, and complex signal processing, forming the backbone of modern computing architecture.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719814" y="635298"/>
            <a:ext cx="6180181" cy="943967"/>
          </a:xfrm>
          <a:prstGeom prst="rect">
            <a:avLst/>
          </a:prstGeom>
          <a:noFill/>
          <a:ln/>
        </p:spPr>
        <p:txBody>
          <a:bodyPr wrap="square" lIns="0" tIns="0" rIns="0" bIns="0" rtlCol="0" anchor="t">
            <a:normAutofit/>
          </a:bodyPr>
          <a:lstStyle/>
          <a:p>
            <a:pPr marL="0" indent="0" algn="l">
              <a:lnSpc>
                <a:spcPct val="104000"/>
              </a:lnSpc>
              <a:buNone/>
            </a:pPr>
            <a:r>
              <a:rPr lang="en-US" sz="2950" dirty="0">
                <a:solidFill>
                  <a:srgbClr val="F5F0F0"/>
                </a:solidFill>
                <a:latin typeface="Merriweather" pitchFamily="34" charset="0"/>
                <a:ea typeface="Merriweather" pitchFamily="34" charset="-122"/>
                <a:cs typeface="Merriweather" pitchFamily="34" charset="-120"/>
              </a:rPr>
              <a:t>Problem Statement: Limitations of Traditional Shift Registers</a:t>
            </a:r>
            <a:endParaRPr lang="en-US" sz="2950" dirty="0"/>
          </a:p>
        </p:txBody>
      </p:sp>
      <p:sp>
        <p:nvSpPr>
          <p:cNvPr id="4" name="Shape 1"/>
          <p:cNvSpPr/>
          <p:nvPr/>
        </p:nvSpPr>
        <p:spPr>
          <a:xfrm>
            <a:off x="719814" y="1745655"/>
            <a:ext cx="6180181" cy="1036042"/>
          </a:xfrm>
          <a:prstGeom prst="roundRect">
            <a:avLst>
              <a:gd name="adj" fmla="val 6123"/>
            </a:avLst>
          </a:prstGeom>
          <a:solidFill>
            <a:srgbClr val="003180"/>
          </a:solidFill>
          <a:ln w="6350">
            <a:solidFill>
              <a:srgbClr val="194A99"/>
            </a:solidFill>
            <a:prstDash val="solid"/>
          </a:ln>
        </p:spPr>
      </p:sp>
      <p:sp>
        <p:nvSpPr>
          <p:cNvPr id="5" name="Text 2"/>
          <p:cNvSpPr/>
          <p:nvPr/>
        </p:nvSpPr>
        <p:spPr>
          <a:xfrm>
            <a:off x="877171" y="1903016"/>
            <a:ext cx="5865467" cy="235942"/>
          </a:xfrm>
          <a:prstGeom prst="rect">
            <a:avLst/>
          </a:prstGeom>
          <a:noFill/>
          <a:ln/>
        </p:spPr>
        <p:txBody>
          <a:bodyPr wrap="none" lIns="0" tIns="0" rIns="0" bIns="0" rtlCol="0" anchor="t"/>
          <a:lstStyle/>
          <a:p>
            <a:pPr marL="0" indent="0" algn="l">
              <a:lnSpc>
                <a:spcPct val="104000"/>
              </a:lnSpc>
              <a:buNone/>
            </a:pPr>
            <a:r>
              <a:rPr lang="en-US" sz="1450" dirty="0">
                <a:solidFill>
                  <a:srgbClr val="FF0000"/>
                </a:solidFill>
                <a:latin typeface="Merriweather" pitchFamily="34" charset="0"/>
                <a:ea typeface="Merriweather" pitchFamily="34" charset="-122"/>
                <a:cs typeface="Merriweather" pitchFamily="34" charset="-120"/>
              </a:rPr>
              <a:t>Unidirectional Data Flow</a:t>
            </a:r>
            <a:endParaRPr lang="en-US" sz="1450" dirty="0"/>
          </a:p>
        </p:txBody>
      </p:sp>
      <p:sp>
        <p:nvSpPr>
          <p:cNvPr id="6" name="Text 3"/>
          <p:cNvSpPr/>
          <p:nvPr/>
        </p:nvSpPr>
        <p:spPr>
          <a:xfrm>
            <a:off x="877171" y="2205434"/>
            <a:ext cx="5865467" cy="418902"/>
          </a:xfrm>
          <a:prstGeom prst="rect">
            <a:avLst/>
          </a:prstGeom>
          <a:noFill/>
          <a:ln/>
        </p:spPr>
        <p:txBody>
          <a:bodyPr wrap="square" lIns="0" tIns="0" rIns="0" bIns="0" rtlCol="0" anchor="t">
            <a:normAutofit/>
          </a:bodyPr>
          <a:lstStyle/>
          <a:p>
            <a:pPr marL="0" indent="0" algn="l">
              <a:lnSpc>
                <a:spcPct val="116000"/>
              </a:lnSpc>
              <a:buNone/>
            </a:pPr>
            <a:r>
              <a:rPr lang="en-US" sz="1150" dirty="0">
                <a:solidFill>
                  <a:srgbClr val="E2E6E9"/>
                </a:solidFill>
                <a:latin typeface="Merriweather" pitchFamily="34" charset="0"/>
                <a:ea typeface="Merriweather" pitchFamily="34" charset="-122"/>
                <a:cs typeface="Merriweather" pitchFamily="34" charset="-120"/>
              </a:rPr>
              <a:t>Basic shift registers are limited to </a:t>
            </a:r>
            <a:r>
              <a:rPr lang="en-US" sz="1150" b="1" dirty="0">
                <a:solidFill>
                  <a:srgbClr val="E2E6E9"/>
                </a:solidFill>
                <a:latin typeface="Merriweather Bold" pitchFamily="34" charset="0"/>
                <a:ea typeface="Merriweather Bold" pitchFamily="34" charset="-122"/>
                <a:cs typeface="Merriweather Bold" pitchFamily="34" charset="-120"/>
              </a:rPr>
              <a:t>single-direction data movement</a:t>
            </a:r>
            <a:r>
              <a:rPr lang="en-US" sz="1150" dirty="0">
                <a:solidFill>
                  <a:srgbClr val="E2E6E9"/>
                </a:solidFill>
                <a:latin typeface="Merriweather" pitchFamily="34" charset="0"/>
                <a:ea typeface="Merriweather" pitchFamily="34" charset="-122"/>
                <a:cs typeface="Merriweather" pitchFamily="34" charset="-120"/>
              </a:rPr>
              <a:t>, severely restricting their applicability in complex data processing tasks.</a:t>
            </a:r>
            <a:endParaRPr lang="en-US" sz="1150" dirty="0"/>
          </a:p>
        </p:txBody>
      </p:sp>
      <p:sp>
        <p:nvSpPr>
          <p:cNvPr id="7" name="Shape 4"/>
          <p:cNvSpPr/>
          <p:nvPr/>
        </p:nvSpPr>
        <p:spPr>
          <a:xfrm>
            <a:off x="719814" y="2892623"/>
            <a:ext cx="6180181" cy="1036042"/>
          </a:xfrm>
          <a:prstGeom prst="roundRect">
            <a:avLst>
              <a:gd name="adj" fmla="val 6123"/>
            </a:avLst>
          </a:prstGeom>
          <a:solidFill>
            <a:srgbClr val="003180"/>
          </a:solidFill>
          <a:ln w="6350">
            <a:solidFill>
              <a:srgbClr val="194A99"/>
            </a:solidFill>
            <a:prstDash val="solid"/>
          </a:ln>
        </p:spPr>
      </p:sp>
      <p:sp>
        <p:nvSpPr>
          <p:cNvPr id="8" name="Text 5"/>
          <p:cNvSpPr/>
          <p:nvPr/>
        </p:nvSpPr>
        <p:spPr>
          <a:xfrm>
            <a:off x="877171" y="3049984"/>
            <a:ext cx="5865467" cy="235942"/>
          </a:xfrm>
          <a:prstGeom prst="rect">
            <a:avLst/>
          </a:prstGeom>
          <a:noFill/>
          <a:ln/>
        </p:spPr>
        <p:txBody>
          <a:bodyPr wrap="none" lIns="0" tIns="0" rIns="0" bIns="0" rtlCol="0" anchor="t"/>
          <a:lstStyle/>
          <a:p>
            <a:pPr marL="0" indent="0" algn="l">
              <a:lnSpc>
                <a:spcPct val="104000"/>
              </a:lnSpc>
              <a:buNone/>
            </a:pPr>
            <a:r>
              <a:rPr lang="en-US" sz="1450" dirty="0">
                <a:solidFill>
                  <a:srgbClr val="FF0000"/>
                </a:solidFill>
                <a:latin typeface="Merriweather" pitchFamily="34" charset="0"/>
                <a:ea typeface="Merriweather" pitchFamily="34" charset="-122"/>
                <a:cs typeface="Merriweather" pitchFamily="34" charset="-120"/>
              </a:rPr>
              <a:t>No Parallel Loading</a:t>
            </a:r>
            <a:endParaRPr lang="en-US" sz="1450" dirty="0"/>
          </a:p>
        </p:txBody>
      </p:sp>
      <p:sp>
        <p:nvSpPr>
          <p:cNvPr id="9" name="Text 6"/>
          <p:cNvSpPr/>
          <p:nvPr/>
        </p:nvSpPr>
        <p:spPr>
          <a:xfrm>
            <a:off x="877171" y="3352403"/>
            <a:ext cx="5865467" cy="418902"/>
          </a:xfrm>
          <a:prstGeom prst="rect">
            <a:avLst/>
          </a:prstGeom>
          <a:noFill/>
          <a:ln/>
        </p:spPr>
        <p:txBody>
          <a:bodyPr wrap="square" lIns="0" tIns="0" rIns="0" bIns="0" rtlCol="0" anchor="t">
            <a:normAutofit/>
          </a:bodyPr>
          <a:lstStyle/>
          <a:p>
            <a:pPr marL="0" indent="0" algn="l">
              <a:lnSpc>
                <a:spcPct val="116000"/>
              </a:lnSpc>
              <a:buNone/>
            </a:pPr>
            <a:r>
              <a:rPr lang="en-US" sz="1150" dirty="0">
                <a:solidFill>
                  <a:srgbClr val="E2E6E9"/>
                </a:solidFill>
                <a:latin typeface="Merriweather" pitchFamily="34" charset="0"/>
                <a:ea typeface="Merriweather" pitchFamily="34" charset="-122"/>
                <a:cs typeface="Merriweather" pitchFamily="34" charset="-120"/>
              </a:rPr>
              <a:t>The </a:t>
            </a:r>
            <a:r>
              <a:rPr lang="en-US" sz="1150" b="1" dirty="0">
                <a:solidFill>
                  <a:srgbClr val="E2E6E9"/>
                </a:solidFill>
                <a:latin typeface="Merriweather Bold" pitchFamily="34" charset="0"/>
                <a:ea typeface="Merriweather Bold" pitchFamily="34" charset="-122"/>
                <a:cs typeface="Merriweather Bold" pitchFamily="34" charset="-120"/>
              </a:rPr>
              <a:t>sequential nature</a:t>
            </a:r>
            <a:r>
              <a:rPr lang="en-US" sz="1150" dirty="0">
                <a:solidFill>
                  <a:srgbClr val="E2E6E9"/>
                </a:solidFill>
                <a:latin typeface="Merriweather" pitchFamily="34" charset="0"/>
                <a:ea typeface="Merriweather" pitchFamily="34" charset="-122"/>
                <a:cs typeface="Merriweather" pitchFamily="34" charset="-120"/>
              </a:rPr>
              <a:t> of data loading in basic designs prevents efficient, simultaneous input of multiple data bits, slowing down operations.</a:t>
            </a:r>
            <a:endParaRPr lang="en-US" sz="1150" dirty="0"/>
          </a:p>
        </p:txBody>
      </p:sp>
      <p:sp>
        <p:nvSpPr>
          <p:cNvPr id="10" name="Shape 7"/>
          <p:cNvSpPr/>
          <p:nvPr/>
        </p:nvSpPr>
        <p:spPr>
          <a:xfrm>
            <a:off x="719814" y="4039592"/>
            <a:ext cx="6180181" cy="1036042"/>
          </a:xfrm>
          <a:prstGeom prst="roundRect">
            <a:avLst>
              <a:gd name="adj" fmla="val 6123"/>
            </a:avLst>
          </a:prstGeom>
          <a:solidFill>
            <a:srgbClr val="003180"/>
          </a:solidFill>
          <a:ln w="6350">
            <a:solidFill>
              <a:srgbClr val="194A99"/>
            </a:solidFill>
            <a:prstDash val="solid"/>
          </a:ln>
        </p:spPr>
      </p:sp>
      <p:sp>
        <p:nvSpPr>
          <p:cNvPr id="11" name="Text 8"/>
          <p:cNvSpPr/>
          <p:nvPr/>
        </p:nvSpPr>
        <p:spPr>
          <a:xfrm>
            <a:off x="877171" y="4196953"/>
            <a:ext cx="5865467" cy="235942"/>
          </a:xfrm>
          <a:prstGeom prst="rect">
            <a:avLst/>
          </a:prstGeom>
          <a:noFill/>
          <a:ln/>
        </p:spPr>
        <p:txBody>
          <a:bodyPr wrap="none" lIns="0" tIns="0" rIns="0" bIns="0" rtlCol="0" anchor="t"/>
          <a:lstStyle/>
          <a:p>
            <a:pPr marL="0" indent="0" algn="l">
              <a:lnSpc>
                <a:spcPct val="104000"/>
              </a:lnSpc>
              <a:buNone/>
            </a:pPr>
            <a:r>
              <a:rPr lang="en-US" sz="1450" dirty="0">
                <a:solidFill>
                  <a:srgbClr val="FF0000"/>
                </a:solidFill>
                <a:latin typeface="Merriweather" pitchFamily="34" charset="0"/>
                <a:ea typeface="Merriweather" pitchFamily="34" charset="-122"/>
                <a:cs typeface="Merriweather" pitchFamily="34" charset="-120"/>
              </a:rPr>
              <a:t>Lack of Flexibility</a:t>
            </a:r>
            <a:endParaRPr lang="en-US" sz="1450" dirty="0"/>
          </a:p>
        </p:txBody>
      </p:sp>
      <p:sp>
        <p:nvSpPr>
          <p:cNvPr id="12" name="Text 9"/>
          <p:cNvSpPr/>
          <p:nvPr/>
        </p:nvSpPr>
        <p:spPr>
          <a:xfrm>
            <a:off x="877171" y="4499372"/>
            <a:ext cx="5865467" cy="418902"/>
          </a:xfrm>
          <a:prstGeom prst="rect">
            <a:avLst/>
          </a:prstGeom>
          <a:noFill/>
          <a:ln/>
        </p:spPr>
        <p:txBody>
          <a:bodyPr wrap="square" lIns="0" tIns="0" rIns="0" bIns="0" rtlCol="0" anchor="t">
            <a:normAutofit/>
          </a:bodyPr>
          <a:lstStyle/>
          <a:p>
            <a:pPr marL="0" indent="0" algn="l">
              <a:lnSpc>
                <a:spcPct val="116000"/>
              </a:lnSpc>
              <a:buNone/>
            </a:pPr>
            <a:r>
              <a:rPr lang="en-US" sz="1150" dirty="0">
                <a:solidFill>
                  <a:srgbClr val="E2E6E9"/>
                </a:solidFill>
                <a:latin typeface="Merriweather" pitchFamily="34" charset="0"/>
                <a:ea typeface="Merriweather" pitchFamily="34" charset="-122"/>
                <a:cs typeface="Merriweather" pitchFamily="34" charset="-120"/>
              </a:rPr>
              <a:t>Rigid design prevents </a:t>
            </a:r>
            <a:r>
              <a:rPr lang="en-US" sz="1150" b="1" dirty="0">
                <a:solidFill>
                  <a:srgbClr val="E2E6E9"/>
                </a:solidFill>
                <a:latin typeface="Merriweather Bold" pitchFamily="34" charset="0"/>
                <a:ea typeface="Merriweather Bold" pitchFamily="34" charset="-122"/>
                <a:cs typeface="Merriweather Bold" pitchFamily="34" charset="-120"/>
              </a:rPr>
              <a:t>dynamic manipulation</a:t>
            </a:r>
            <a:r>
              <a:rPr lang="en-US" sz="1150" dirty="0">
                <a:solidFill>
                  <a:srgbClr val="E2E6E9"/>
                </a:solidFill>
                <a:latin typeface="Merriweather" pitchFamily="34" charset="0"/>
                <a:ea typeface="Merriweather" pitchFamily="34" charset="-122"/>
                <a:cs typeface="Merriweather" pitchFamily="34" charset="-120"/>
              </a:rPr>
              <a:t> of data and combination of functions, hindering adaptability to diverse circuit requirements.</a:t>
            </a:r>
            <a:endParaRPr lang="en-US" sz="1150" dirty="0"/>
          </a:p>
        </p:txBody>
      </p:sp>
      <p:sp>
        <p:nvSpPr>
          <p:cNvPr id="13" name="Shape 10"/>
          <p:cNvSpPr/>
          <p:nvPr/>
        </p:nvSpPr>
        <p:spPr>
          <a:xfrm>
            <a:off x="719814" y="5186561"/>
            <a:ext cx="6180181" cy="1036042"/>
          </a:xfrm>
          <a:prstGeom prst="roundRect">
            <a:avLst>
              <a:gd name="adj" fmla="val 6123"/>
            </a:avLst>
          </a:prstGeom>
          <a:solidFill>
            <a:srgbClr val="003180"/>
          </a:solidFill>
          <a:ln w="6350">
            <a:solidFill>
              <a:srgbClr val="194A99"/>
            </a:solidFill>
            <a:prstDash val="solid"/>
          </a:ln>
        </p:spPr>
      </p:sp>
      <p:sp>
        <p:nvSpPr>
          <p:cNvPr id="14" name="Text 11"/>
          <p:cNvSpPr/>
          <p:nvPr/>
        </p:nvSpPr>
        <p:spPr>
          <a:xfrm>
            <a:off x="877171" y="5343922"/>
            <a:ext cx="5865467" cy="235942"/>
          </a:xfrm>
          <a:prstGeom prst="rect">
            <a:avLst/>
          </a:prstGeom>
          <a:noFill/>
          <a:ln/>
        </p:spPr>
        <p:txBody>
          <a:bodyPr wrap="none" lIns="0" tIns="0" rIns="0" bIns="0" rtlCol="0" anchor="t"/>
          <a:lstStyle/>
          <a:p>
            <a:pPr marL="0" indent="0" algn="l">
              <a:lnSpc>
                <a:spcPct val="104000"/>
              </a:lnSpc>
              <a:buNone/>
            </a:pPr>
            <a:r>
              <a:rPr lang="en-US" sz="1450" dirty="0">
                <a:solidFill>
                  <a:srgbClr val="FF0000"/>
                </a:solidFill>
                <a:latin typeface="Merriweather" pitchFamily="34" charset="0"/>
                <a:ea typeface="Merriweather" pitchFamily="34" charset="-122"/>
                <a:cs typeface="Merriweather" pitchFamily="34" charset="-120"/>
              </a:rPr>
              <a:t>Fragmented Solutions</a:t>
            </a:r>
            <a:endParaRPr lang="en-US" sz="1450" dirty="0"/>
          </a:p>
        </p:txBody>
      </p:sp>
      <p:sp>
        <p:nvSpPr>
          <p:cNvPr id="15" name="Text 12"/>
          <p:cNvSpPr/>
          <p:nvPr/>
        </p:nvSpPr>
        <p:spPr>
          <a:xfrm>
            <a:off x="877171" y="5646341"/>
            <a:ext cx="5865467" cy="418902"/>
          </a:xfrm>
          <a:prstGeom prst="rect">
            <a:avLst/>
          </a:prstGeom>
          <a:noFill/>
          <a:ln/>
        </p:spPr>
        <p:txBody>
          <a:bodyPr wrap="square" lIns="0" tIns="0" rIns="0" bIns="0" rtlCol="0" anchor="t">
            <a:normAutofit/>
          </a:bodyPr>
          <a:lstStyle/>
          <a:p>
            <a:pPr marL="0" indent="0" algn="l">
              <a:lnSpc>
                <a:spcPct val="116000"/>
              </a:lnSpc>
              <a:buNone/>
            </a:pPr>
            <a:r>
              <a:rPr lang="en-US" sz="1150" dirty="0">
                <a:solidFill>
                  <a:srgbClr val="E2E6E9"/>
                </a:solidFill>
                <a:latin typeface="Merriweather" pitchFamily="34" charset="0"/>
                <a:ea typeface="Merriweather" pitchFamily="34" charset="-122"/>
                <a:cs typeface="Merriweather" pitchFamily="34" charset="-120"/>
              </a:rPr>
              <a:t>The current approach requires separate circuits for different operations, leading to </a:t>
            </a:r>
            <a:r>
              <a:rPr lang="en-US" sz="1150" b="1" dirty="0">
                <a:solidFill>
                  <a:srgbClr val="E2E6E9"/>
                </a:solidFill>
                <a:latin typeface="Merriweather Bold" pitchFamily="34" charset="0"/>
                <a:ea typeface="Merriweather Bold" pitchFamily="34" charset="-122"/>
                <a:cs typeface="Merriweather Bold" pitchFamily="34" charset="-120"/>
              </a:rPr>
              <a:t>increased complexity and component count</a:t>
            </a:r>
            <a:r>
              <a:rPr lang="en-US" sz="1150" dirty="0">
                <a:solidFill>
                  <a:srgbClr val="E2E6E9"/>
                </a:solidFill>
                <a:latin typeface="Merriweather" pitchFamily="34" charset="0"/>
                <a:ea typeface="Merriweather" pitchFamily="34" charset="-122"/>
                <a:cs typeface="Merriweather" pitchFamily="34" charset="-120"/>
              </a:rPr>
              <a:t> in system design.</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19814" y="591245"/>
            <a:ext cx="10752067" cy="572492"/>
          </a:xfrm>
          <a:prstGeom prst="rect">
            <a:avLst/>
          </a:prstGeom>
          <a:noFill/>
          <a:ln/>
        </p:spPr>
        <p:txBody>
          <a:bodyPr wrap="none" lIns="0" tIns="0" rIns="0" bIns="0" rtlCol="0" anchor="t"/>
          <a:lstStyle/>
          <a:p>
            <a:pPr marL="0" indent="0" algn="l">
              <a:lnSpc>
                <a:spcPct val="104000"/>
              </a:lnSpc>
              <a:buNone/>
            </a:pPr>
            <a:r>
              <a:rPr lang="en-US" sz="3600" dirty="0">
                <a:solidFill>
                  <a:srgbClr val="F5F0F0"/>
                </a:solidFill>
                <a:latin typeface="Merriweather" pitchFamily="34" charset="0"/>
                <a:ea typeface="Merriweather" pitchFamily="34" charset="-122"/>
                <a:cs typeface="Merriweather" pitchFamily="34" charset="-120"/>
              </a:rPr>
              <a:t>Project Objectives: 4-bit Universal Shift Register</a:t>
            </a:r>
            <a:endParaRPr lang="en-US" sz="3600" dirty="0"/>
          </a:p>
        </p:txBody>
      </p:sp>
      <p:sp>
        <p:nvSpPr>
          <p:cNvPr id="3" name="Shape 1"/>
          <p:cNvSpPr/>
          <p:nvPr/>
        </p:nvSpPr>
        <p:spPr>
          <a:xfrm>
            <a:off x="719814" y="1489968"/>
            <a:ext cx="3475248" cy="2583855"/>
          </a:xfrm>
          <a:prstGeom prst="roundRect">
            <a:avLst>
              <a:gd name="adj" fmla="val 2978"/>
            </a:avLst>
          </a:prstGeom>
          <a:solidFill>
            <a:srgbClr val="003180"/>
          </a:solidFill>
          <a:ln w="6350">
            <a:solidFill>
              <a:srgbClr val="194A99"/>
            </a:solidFill>
            <a:prstDash val="solid"/>
          </a:ln>
        </p:spPr>
      </p:sp>
      <p:sp>
        <p:nvSpPr>
          <p:cNvPr id="4" name="Shape 2"/>
          <p:cNvSpPr/>
          <p:nvPr/>
        </p:nvSpPr>
        <p:spPr>
          <a:xfrm>
            <a:off x="909317" y="1679476"/>
            <a:ext cx="549559" cy="549573"/>
          </a:xfrm>
          <a:prstGeom prst="ellipse">
            <a:avLst/>
          </a:prstGeom>
          <a:solidFill>
            <a:srgbClr val="609DFF"/>
          </a:solidFill>
          <a:ln/>
        </p:spPr>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0423" y="1830586"/>
            <a:ext cx="247247" cy="247253"/>
          </a:xfrm>
          <a:prstGeom prst="rect">
            <a:avLst/>
          </a:prstGeom>
        </p:spPr>
      </p:pic>
      <p:sp>
        <p:nvSpPr>
          <p:cNvPr id="6" name="Text 3"/>
          <p:cNvSpPr/>
          <p:nvPr/>
        </p:nvSpPr>
        <p:spPr>
          <a:xfrm>
            <a:off x="909317" y="2392164"/>
            <a:ext cx="3096242" cy="286246"/>
          </a:xfrm>
          <a:prstGeom prst="rect">
            <a:avLst/>
          </a:prstGeom>
          <a:noFill/>
          <a:ln/>
        </p:spPr>
        <p:txBody>
          <a:bodyPr wrap="none" lIns="0" tIns="0" rIns="0" bIns="0" rtlCol="0" anchor="t"/>
          <a:lstStyle/>
          <a:p>
            <a:pPr marL="0" indent="0" algn="l">
              <a:lnSpc>
                <a:spcPct val="104000"/>
              </a:lnSpc>
              <a:buNone/>
            </a:pPr>
            <a:r>
              <a:rPr lang="en-US" sz="1800" dirty="0">
                <a:solidFill>
                  <a:srgbClr val="E2E6E9"/>
                </a:solidFill>
                <a:latin typeface="Merriweather" pitchFamily="34" charset="0"/>
                <a:ea typeface="Merriweather" pitchFamily="34" charset="-122"/>
                <a:cs typeface="Merriweather" pitchFamily="34" charset="-120"/>
              </a:rPr>
              <a:t>Design &amp; Implementation</a:t>
            </a:r>
            <a:endParaRPr lang="en-US" sz="1800" dirty="0"/>
          </a:p>
        </p:txBody>
      </p:sp>
      <p:sp>
        <p:nvSpPr>
          <p:cNvPr id="7" name="Text 4"/>
          <p:cNvSpPr/>
          <p:nvPr/>
        </p:nvSpPr>
        <p:spPr>
          <a:xfrm>
            <a:off x="909317" y="2776240"/>
            <a:ext cx="3096242" cy="1108075"/>
          </a:xfrm>
          <a:prstGeom prst="rect">
            <a:avLst/>
          </a:prstGeom>
          <a:noFill/>
          <a:ln/>
        </p:spPr>
        <p:txBody>
          <a:bodyPr wrap="square" lIns="0" tIns="0" rIns="0" bIns="0" rtlCol="0" anchor="t">
            <a:normAutofit/>
          </a:bodyPr>
          <a:lstStyle/>
          <a:p>
            <a:pPr marL="0" indent="0" algn="l">
              <a:lnSpc>
                <a:spcPct val="126000"/>
              </a:lnSpc>
              <a:buNone/>
            </a:pPr>
            <a:r>
              <a:rPr lang="en-US" sz="1400" dirty="0">
                <a:solidFill>
                  <a:srgbClr val="E2E6E9"/>
                </a:solidFill>
                <a:latin typeface="Merriweather" pitchFamily="34" charset="0"/>
                <a:ea typeface="Merriweather" pitchFamily="34" charset="-122"/>
                <a:cs typeface="Merriweather" pitchFamily="34" charset="-120"/>
              </a:rPr>
              <a:t>Craft a 4-bit universal shift register using fundamental logic gates, ensuring robust and efficient operation.</a:t>
            </a:r>
            <a:endParaRPr lang="en-US" sz="1400" dirty="0"/>
          </a:p>
        </p:txBody>
      </p:sp>
      <p:sp>
        <p:nvSpPr>
          <p:cNvPr id="8" name="Shape 5"/>
          <p:cNvSpPr/>
          <p:nvPr/>
        </p:nvSpPr>
        <p:spPr>
          <a:xfrm>
            <a:off x="4358174" y="1489968"/>
            <a:ext cx="3475248" cy="2583855"/>
          </a:xfrm>
          <a:prstGeom prst="roundRect">
            <a:avLst>
              <a:gd name="adj" fmla="val 2978"/>
            </a:avLst>
          </a:prstGeom>
          <a:solidFill>
            <a:srgbClr val="003180"/>
          </a:solidFill>
          <a:ln w="6350">
            <a:solidFill>
              <a:srgbClr val="194A99"/>
            </a:solidFill>
            <a:prstDash val="solid"/>
          </a:ln>
        </p:spPr>
      </p:sp>
      <p:sp>
        <p:nvSpPr>
          <p:cNvPr id="9" name="Shape 6"/>
          <p:cNvSpPr/>
          <p:nvPr/>
        </p:nvSpPr>
        <p:spPr>
          <a:xfrm>
            <a:off x="4547677" y="1679476"/>
            <a:ext cx="549559" cy="549573"/>
          </a:xfrm>
          <a:prstGeom prst="ellipse">
            <a:avLst/>
          </a:prstGeom>
          <a:solidFill>
            <a:srgbClr val="609DFF"/>
          </a:solidFill>
          <a:ln/>
        </p:spPr>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98783" y="1830586"/>
            <a:ext cx="247247" cy="247253"/>
          </a:xfrm>
          <a:prstGeom prst="rect">
            <a:avLst/>
          </a:prstGeom>
        </p:spPr>
      </p:pic>
      <p:sp>
        <p:nvSpPr>
          <p:cNvPr id="11" name="Text 7"/>
          <p:cNvSpPr/>
          <p:nvPr/>
        </p:nvSpPr>
        <p:spPr>
          <a:xfrm>
            <a:off x="4547677" y="2392164"/>
            <a:ext cx="3096242" cy="286246"/>
          </a:xfrm>
          <a:prstGeom prst="rect">
            <a:avLst/>
          </a:prstGeom>
          <a:noFill/>
          <a:ln/>
        </p:spPr>
        <p:txBody>
          <a:bodyPr wrap="none" lIns="0" tIns="0" rIns="0" bIns="0" rtlCol="0" anchor="t"/>
          <a:lstStyle/>
          <a:p>
            <a:pPr marL="0" indent="0" algn="l">
              <a:lnSpc>
                <a:spcPct val="104000"/>
              </a:lnSpc>
              <a:buNone/>
            </a:pPr>
            <a:r>
              <a:rPr lang="en-US" sz="1800" dirty="0">
                <a:solidFill>
                  <a:srgbClr val="E2E6E9"/>
                </a:solidFill>
                <a:latin typeface="Merriweather" pitchFamily="34" charset="0"/>
                <a:ea typeface="Merriweather" pitchFamily="34" charset="-122"/>
                <a:cs typeface="Merriweather" pitchFamily="34" charset="-120"/>
              </a:rPr>
              <a:t>Bidirectional Shifting</a:t>
            </a:r>
            <a:endParaRPr lang="en-US" sz="1800" dirty="0"/>
          </a:p>
        </p:txBody>
      </p:sp>
      <p:sp>
        <p:nvSpPr>
          <p:cNvPr id="12" name="Text 8"/>
          <p:cNvSpPr/>
          <p:nvPr/>
        </p:nvSpPr>
        <p:spPr>
          <a:xfrm>
            <a:off x="4547677" y="2776240"/>
            <a:ext cx="3096242" cy="831056"/>
          </a:xfrm>
          <a:prstGeom prst="rect">
            <a:avLst/>
          </a:prstGeom>
          <a:noFill/>
          <a:ln/>
        </p:spPr>
        <p:txBody>
          <a:bodyPr wrap="square" lIns="0" tIns="0" rIns="0" bIns="0" rtlCol="0" anchor="t">
            <a:normAutofit/>
          </a:bodyPr>
          <a:lstStyle/>
          <a:p>
            <a:pPr marL="0" indent="0" algn="l">
              <a:lnSpc>
                <a:spcPct val="126000"/>
              </a:lnSpc>
              <a:buNone/>
            </a:pPr>
            <a:r>
              <a:rPr lang="en-US" sz="1400" dirty="0">
                <a:solidFill>
                  <a:srgbClr val="E2E6E9"/>
                </a:solidFill>
                <a:latin typeface="Merriweather" pitchFamily="34" charset="0"/>
                <a:ea typeface="Merriweather" pitchFamily="34" charset="-122"/>
                <a:cs typeface="Merriweather" pitchFamily="34" charset="-120"/>
              </a:rPr>
              <a:t>Incorporate capabilities for both left and right data shifting, controlled by selection inputs.</a:t>
            </a:r>
            <a:endParaRPr lang="en-US" sz="1400" dirty="0"/>
          </a:p>
        </p:txBody>
      </p:sp>
      <p:sp>
        <p:nvSpPr>
          <p:cNvPr id="13" name="Shape 9"/>
          <p:cNvSpPr/>
          <p:nvPr/>
        </p:nvSpPr>
        <p:spPr>
          <a:xfrm>
            <a:off x="7996534" y="1489968"/>
            <a:ext cx="3475248" cy="2583855"/>
          </a:xfrm>
          <a:prstGeom prst="roundRect">
            <a:avLst>
              <a:gd name="adj" fmla="val 2978"/>
            </a:avLst>
          </a:prstGeom>
          <a:solidFill>
            <a:srgbClr val="003180"/>
          </a:solidFill>
          <a:ln w="6350">
            <a:solidFill>
              <a:srgbClr val="194A99"/>
            </a:solidFill>
            <a:prstDash val="solid"/>
          </a:ln>
        </p:spPr>
      </p:sp>
      <p:sp>
        <p:nvSpPr>
          <p:cNvPr id="14" name="Shape 10"/>
          <p:cNvSpPr/>
          <p:nvPr/>
        </p:nvSpPr>
        <p:spPr>
          <a:xfrm>
            <a:off x="8186037" y="1679476"/>
            <a:ext cx="549559" cy="549573"/>
          </a:xfrm>
          <a:prstGeom prst="ellipse">
            <a:avLst/>
          </a:prstGeom>
          <a:solidFill>
            <a:srgbClr val="609DFF"/>
          </a:solidFill>
          <a:ln/>
        </p:spPr>
      </p:sp>
      <p:pic>
        <p:nvPicPr>
          <p:cNvPr id="1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37143" y="1830586"/>
            <a:ext cx="247247" cy="247253"/>
          </a:xfrm>
          <a:prstGeom prst="rect">
            <a:avLst/>
          </a:prstGeom>
        </p:spPr>
      </p:pic>
      <p:sp>
        <p:nvSpPr>
          <p:cNvPr id="16" name="Text 11"/>
          <p:cNvSpPr/>
          <p:nvPr/>
        </p:nvSpPr>
        <p:spPr>
          <a:xfrm>
            <a:off x="8186037" y="2392164"/>
            <a:ext cx="3096242" cy="286246"/>
          </a:xfrm>
          <a:prstGeom prst="rect">
            <a:avLst/>
          </a:prstGeom>
          <a:noFill/>
          <a:ln/>
        </p:spPr>
        <p:txBody>
          <a:bodyPr wrap="none" lIns="0" tIns="0" rIns="0" bIns="0" rtlCol="0" anchor="t"/>
          <a:lstStyle/>
          <a:p>
            <a:pPr marL="0" indent="0" algn="l">
              <a:lnSpc>
                <a:spcPct val="104000"/>
              </a:lnSpc>
              <a:buNone/>
            </a:pPr>
            <a:r>
              <a:rPr lang="en-US" sz="1800" dirty="0">
                <a:solidFill>
                  <a:srgbClr val="E2E6E9"/>
                </a:solidFill>
                <a:latin typeface="Merriweather" pitchFamily="34" charset="0"/>
                <a:ea typeface="Merriweather" pitchFamily="34" charset="-122"/>
                <a:cs typeface="Merriweather" pitchFamily="34" charset="-120"/>
              </a:rPr>
              <a:t>Parallel Loading</a:t>
            </a:r>
            <a:endParaRPr lang="en-US" sz="1800" dirty="0"/>
          </a:p>
        </p:txBody>
      </p:sp>
      <p:sp>
        <p:nvSpPr>
          <p:cNvPr id="17" name="Text 12"/>
          <p:cNvSpPr/>
          <p:nvPr/>
        </p:nvSpPr>
        <p:spPr>
          <a:xfrm>
            <a:off x="8186037" y="2776240"/>
            <a:ext cx="3096242" cy="831056"/>
          </a:xfrm>
          <a:prstGeom prst="rect">
            <a:avLst/>
          </a:prstGeom>
          <a:noFill/>
          <a:ln/>
        </p:spPr>
        <p:txBody>
          <a:bodyPr wrap="square" lIns="0" tIns="0" rIns="0" bIns="0" rtlCol="0" anchor="t">
            <a:normAutofit/>
          </a:bodyPr>
          <a:lstStyle/>
          <a:p>
            <a:pPr marL="0" indent="0" algn="l">
              <a:lnSpc>
                <a:spcPct val="126000"/>
              </a:lnSpc>
              <a:buNone/>
            </a:pPr>
            <a:r>
              <a:rPr lang="en-US" sz="1400" dirty="0">
                <a:solidFill>
                  <a:srgbClr val="E2E6E9"/>
                </a:solidFill>
                <a:latin typeface="Merriweather" pitchFamily="34" charset="0"/>
                <a:ea typeface="Merriweather" pitchFamily="34" charset="-122"/>
                <a:cs typeface="Merriweather" pitchFamily="34" charset="-120"/>
              </a:rPr>
              <a:t>Integrate a parallel data load feature to efficiently input and update the register's contents.</a:t>
            </a:r>
            <a:endParaRPr lang="en-US" sz="1400" dirty="0"/>
          </a:p>
        </p:txBody>
      </p:sp>
      <p:sp>
        <p:nvSpPr>
          <p:cNvPr id="18" name="Shape 13"/>
          <p:cNvSpPr/>
          <p:nvPr/>
        </p:nvSpPr>
        <p:spPr>
          <a:xfrm>
            <a:off x="719814" y="4236938"/>
            <a:ext cx="5294378" cy="2029817"/>
          </a:xfrm>
          <a:prstGeom prst="roundRect">
            <a:avLst>
              <a:gd name="adj" fmla="val 3791"/>
            </a:avLst>
          </a:prstGeom>
          <a:solidFill>
            <a:srgbClr val="003180"/>
          </a:solidFill>
          <a:ln w="6350">
            <a:solidFill>
              <a:srgbClr val="194A99"/>
            </a:solidFill>
            <a:prstDash val="solid"/>
          </a:ln>
        </p:spPr>
      </p:sp>
      <p:sp>
        <p:nvSpPr>
          <p:cNvPr id="19" name="Shape 14"/>
          <p:cNvSpPr/>
          <p:nvPr/>
        </p:nvSpPr>
        <p:spPr>
          <a:xfrm>
            <a:off x="909317" y="4426446"/>
            <a:ext cx="549559" cy="549573"/>
          </a:xfrm>
          <a:prstGeom prst="ellipse">
            <a:avLst/>
          </a:prstGeom>
          <a:solidFill>
            <a:srgbClr val="609DFF"/>
          </a:solidFill>
          <a:ln/>
        </p:spPr>
      </p:sp>
      <p:pic>
        <p:nvPicPr>
          <p:cNvPr id="2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60423" y="4577556"/>
            <a:ext cx="247247" cy="247253"/>
          </a:xfrm>
          <a:prstGeom prst="rect">
            <a:avLst/>
          </a:prstGeom>
        </p:spPr>
      </p:pic>
      <p:sp>
        <p:nvSpPr>
          <p:cNvPr id="21" name="Text 15"/>
          <p:cNvSpPr/>
          <p:nvPr/>
        </p:nvSpPr>
        <p:spPr>
          <a:xfrm>
            <a:off x="909317" y="5139134"/>
            <a:ext cx="4915372" cy="286246"/>
          </a:xfrm>
          <a:prstGeom prst="rect">
            <a:avLst/>
          </a:prstGeom>
          <a:noFill/>
          <a:ln/>
        </p:spPr>
        <p:txBody>
          <a:bodyPr wrap="none" lIns="0" tIns="0" rIns="0" bIns="0" rtlCol="0" anchor="t"/>
          <a:lstStyle/>
          <a:p>
            <a:pPr marL="0" indent="0" algn="l">
              <a:lnSpc>
                <a:spcPct val="104000"/>
              </a:lnSpc>
              <a:buNone/>
            </a:pPr>
            <a:r>
              <a:rPr lang="en-US" sz="1800" dirty="0">
                <a:solidFill>
                  <a:srgbClr val="E2E6E9"/>
                </a:solidFill>
                <a:latin typeface="Merriweather" pitchFamily="34" charset="0"/>
                <a:ea typeface="Merriweather" pitchFamily="34" charset="-122"/>
                <a:cs typeface="Merriweather" pitchFamily="34" charset="-120"/>
              </a:rPr>
              <a:t>Verification &amp; Testing</a:t>
            </a:r>
            <a:endParaRPr lang="en-US" sz="1800" dirty="0"/>
          </a:p>
        </p:txBody>
      </p:sp>
      <p:sp>
        <p:nvSpPr>
          <p:cNvPr id="22" name="Text 16"/>
          <p:cNvSpPr/>
          <p:nvPr/>
        </p:nvSpPr>
        <p:spPr>
          <a:xfrm>
            <a:off x="909317" y="5523210"/>
            <a:ext cx="4915372" cy="554038"/>
          </a:xfrm>
          <a:prstGeom prst="rect">
            <a:avLst/>
          </a:prstGeom>
          <a:noFill/>
          <a:ln/>
        </p:spPr>
        <p:txBody>
          <a:bodyPr wrap="square" lIns="0" tIns="0" rIns="0" bIns="0" rtlCol="0" anchor="t">
            <a:normAutofit/>
          </a:bodyPr>
          <a:lstStyle/>
          <a:p>
            <a:pPr marL="0" indent="0" algn="l">
              <a:lnSpc>
                <a:spcPct val="126000"/>
              </a:lnSpc>
              <a:buNone/>
            </a:pPr>
            <a:r>
              <a:rPr lang="en-US" sz="1400" dirty="0">
                <a:solidFill>
                  <a:srgbClr val="E2E6E9"/>
                </a:solidFill>
                <a:latin typeface="Merriweather" pitchFamily="34" charset="0"/>
                <a:ea typeface="Merriweather" pitchFamily="34" charset="-122"/>
                <a:cs typeface="Merriweather" pitchFamily="34" charset="-120"/>
              </a:rPr>
              <a:t>Validate the design's functionality through comprehensive truth tables and rigorous simulation.</a:t>
            </a:r>
            <a:endParaRPr lang="en-US" sz="1400" dirty="0"/>
          </a:p>
        </p:txBody>
      </p:sp>
      <p:sp>
        <p:nvSpPr>
          <p:cNvPr id="23" name="Shape 17"/>
          <p:cNvSpPr/>
          <p:nvPr/>
        </p:nvSpPr>
        <p:spPr>
          <a:xfrm>
            <a:off x="6177304" y="4236938"/>
            <a:ext cx="5294478" cy="2029817"/>
          </a:xfrm>
          <a:prstGeom prst="roundRect">
            <a:avLst>
              <a:gd name="adj" fmla="val 3791"/>
            </a:avLst>
          </a:prstGeom>
          <a:solidFill>
            <a:srgbClr val="003180"/>
          </a:solidFill>
          <a:ln w="6350">
            <a:solidFill>
              <a:srgbClr val="194A99"/>
            </a:solidFill>
            <a:prstDash val="solid"/>
          </a:ln>
        </p:spPr>
      </p:sp>
      <p:sp>
        <p:nvSpPr>
          <p:cNvPr id="24" name="Shape 18"/>
          <p:cNvSpPr/>
          <p:nvPr/>
        </p:nvSpPr>
        <p:spPr>
          <a:xfrm>
            <a:off x="6366807" y="4426446"/>
            <a:ext cx="549559" cy="549573"/>
          </a:xfrm>
          <a:prstGeom prst="ellipse">
            <a:avLst/>
          </a:prstGeom>
          <a:solidFill>
            <a:srgbClr val="609DFF"/>
          </a:solidFill>
          <a:ln/>
        </p:spPr>
      </p:sp>
      <p:pic>
        <p:nvPicPr>
          <p:cNvPr id="2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517914" y="4577556"/>
            <a:ext cx="247247" cy="247253"/>
          </a:xfrm>
          <a:prstGeom prst="rect">
            <a:avLst/>
          </a:prstGeom>
        </p:spPr>
      </p:pic>
      <p:sp>
        <p:nvSpPr>
          <p:cNvPr id="26" name="Text 19"/>
          <p:cNvSpPr/>
          <p:nvPr/>
        </p:nvSpPr>
        <p:spPr>
          <a:xfrm>
            <a:off x="6366807" y="5139134"/>
            <a:ext cx="4915472" cy="286246"/>
          </a:xfrm>
          <a:prstGeom prst="rect">
            <a:avLst/>
          </a:prstGeom>
          <a:noFill/>
          <a:ln/>
        </p:spPr>
        <p:txBody>
          <a:bodyPr wrap="none" lIns="0" tIns="0" rIns="0" bIns="0" rtlCol="0" anchor="t"/>
          <a:lstStyle/>
          <a:p>
            <a:pPr marL="0" indent="0" algn="l">
              <a:lnSpc>
                <a:spcPct val="104000"/>
              </a:lnSpc>
              <a:buNone/>
            </a:pPr>
            <a:r>
              <a:rPr lang="en-US" sz="1800" dirty="0">
                <a:solidFill>
                  <a:srgbClr val="E2E6E9"/>
                </a:solidFill>
                <a:latin typeface="Merriweather" pitchFamily="34" charset="0"/>
                <a:ea typeface="Merriweather" pitchFamily="34" charset="-122"/>
                <a:cs typeface="Merriweather" pitchFamily="34" charset="-120"/>
              </a:rPr>
              <a:t>Practical Applications</a:t>
            </a:r>
            <a:endParaRPr lang="en-US" sz="1800" dirty="0"/>
          </a:p>
        </p:txBody>
      </p:sp>
      <p:sp>
        <p:nvSpPr>
          <p:cNvPr id="27" name="Text 20"/>
          <p:cNvSpPr/>
          <p:nvPr/>
        </p:nvSpPr>
        <p:spPr>
          <a:xfrm>
            <a:off x="6366807" y="5523210"/>
            <a:ext cx="4915472" cy="554038"/>
          </a:xfrm>
          <a:prstGeom prst="rect">
            <a:avLst/>
          </a:prstGeom>
          <a:noFill/>
          <a:ln/>
        </p:spPr>
        <p:txBody>
          <a:bodyPr wrap="square" lIns="0" tIns="0" rIns="0" bIns="0" rtlCol="0" anchor="t">
            <a:normAutofit/>
          </a:bodyPr>
          <a:lstStyle/>
          <a:p>
            <a:pPr marL="0" indent="0" algn="l">
              <a:lnSpc>
                <a:spcPct val="126000"/>
              </a:lnSpc>
              <a:buNone/>
            </a:pPr>
            <a:r>
              <a:rPr lang="en-US" sz="1400" dirty="0">
                <a:solidFill>
                  <a:srgbClr val="E2E6E9"/>
                </a:solidFill>
                <a:latin typeface="Merriweather" pitchFamily="34" charset="0"/>
                <a:ea typeface="Merriweather" pitchFamily="34" charset="-122"/>
                <a:cs typeface="Merriweather" pitchFamily="34" charset="-120"/>
              </a:rPr>
              <a:t>Illustrate real-world utility in data conversion, signal processing, and sequence generation.</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719814" y="626864"/>
            <a:ext cx="6180181" cy="943967"/>
          </a:xfrm>
          <a:prstGeom prst="rect">
            <a:avLst/>
          </a:prstGeom>
          <a:noFill/>
          <a:ln/>
        </p:spPr>
        <p:txBody>
          <a:bodyPr wrap="square" lIns="0" tIns="0" rIns="0" bIns="0" rtlCol="0" anchor="t">
            <a:normAutofit/>
          </a:bodyPr>
          <a:lstStyle/>
          <a:p>
            <a:pPr marL="0" indent="0" algn="l">
              <a:lnSpc>
                <a:spcPct val="104000"/>
              </a:lnSpc>
              <a:buNone/>
            </a:pPr>
            <a:r>
              <a:rPr lang="en-US" sz="2950" dirty="0">
                <a:solidFill>
                  <a:srgbClr val="F5F0F0"/>
                </a:solidFill>
                <a:latin typeface="Merriweather" pitchFamily="34" charset="0"/>
                <a:ea typeface="Merriweather" pitchFamily="34" charset="-122"/>
                <a:cs typeface="Merriweather" pitchFamily="34" charset="-120"/>
              </a:rPr>
              <a:t>Literature Survey: Shift Register Designs</a:t>
            </a:r>
            <a:endParaRPr lang="en-US" sz="2950" dirty="0"/>
          </a:p>
        </p:txBody>
      </p:sp>
      <p:sp>
        <p:nvSpPr>
          <p:cNvPr id="4" name="Text 1"/>
          <p:cNvSpPr/>
          <p:nvPr/>
        </p:nvSpPr>
        <p:spPr>
          <a:xfrm>
            <a:off x="719814" y="1737221"/>
            <a:ext cx="6180181" cy="418902"/>
          </a:xfrm>
          <a:prstGeom prst="rect">
            <a:avLst/>
          </a:prstGeom>
          <a:noFill/>
          <a:ln/>
        </p:spPr>
        <p:txBody>
          <a:bodyPr wrap="square" lIns="0" tIns="0" rIns="0" bIns="0" rtlCol="0" anchor="t">
            <a:normAutofit/>
          </a:bodyPr>
          <a:lstStyle/>
          <a:p>
            <a:pPr marL="0" indent="0" algn="l">
              <a:lnSpc>
                <a:spcPct val="116000"/>
              </a:lnSpc>
              <a:buNone/>
            </a:pPr>
            <a:r>
              <a:rPr lang="en-US" sz="1150" dirty="0">
                <a:solidFill>
                  <a:srgbClr val="E2E6E9"/>
                </a:solidFill>
                <a:latin typeface="Merriweather" pitchFamily="34" charset="0"/>
                <a:ea typeface="Merriweather" pitchFamily="34" charset="-122"/>
                <a:cs typeface="Merriweather" pitchFamily="34" charset="-120"/>
              </a:rPr>
              <a:t>Our comprehensive literature review covered fundamental concepts and advanced optimizations in shift register technology.</a:t>
            </a:r>
            <a:endParaRPr lang="en-US" sz="1150" dirty="0"/>
          </a:p>
        </p:txBody>
      </p:sp>
      <p:sp>
        <p:nvSpPr>
          <p:cNvPr id="5" name="Shape 2"/>
          <p:cNvSpPr/>
          <p:nvPr/>
        </p:nvSpPr>
        <p:spPr>
          <a:xfrm>
            <a:off x="719814" y="2280841"/>
            <a:ext cx="6180181" cy="851991"/>
          </a:xfrm>
          <a:prstGeom prst="roundRect">
            <a:avLst>
              <a:gd name="adj" fmla="val 7446"/>
            </a:avLst>
          </a:prstGeom>
          <a:solidFill>
            <a:srgbClr val="09151A">
              <a:alpha val="95000"/>
            </a:srgbClr>
          </a:solidFill>
          <a:ln w="19050">
            <a:solidFill>
              <a:srgbClr val="194A99"/>
            </a:solidFill>
            <a:prstDash val="solid"/>
          </a:ln>
        </p:spPr>
      </p:sp>
      <p:sp>
        <p:nvSpPr>
          <p:cNvPr id="6" name="Text 3"/>
          <p:cNvSpPr/>
          <p:nvPr/>
        </p:nvSpPr>
        <p:spPr>
          <a:xfrm>
            <a:off x="889871" y="2450902"/>
            <a:ext cx="5840068" cy="235942"/>
          </a:xfrm>
          <a:prstGeom prst="rect">
            <a:avLst/>
          </a:prstGeom>
          <a:noFill/>
          <a:ln/>
        </p:spPr>
        <p:txBody>
          <a:bodyPr wrap="none" lIns="0" tIns="0" rIns="0" bIns="0" rtlCol="0" anchor="t"/>
          <a:lstStyle/>
          <a:p>
            <a:pPr marL="0" indent="0" algn="l">
              <a:lnSpc>
                <a:spcPct val="104000"/>
              </a:lnSpc>
              <a:buNone/>
            </a:pPr>
            <a:r>
              <a:rPr lang="en-US" sz="1450" dirty="0">
                <a:solidFill>
                  <a:srgbClr val="E2E6E9"/>
                </a:solidFill>
                <a:latin typeface="Merriweather" pitchFamily="34" charset="0"/>
                <a:ea typeface="Merriweather" pitchFamily="34" charset="-122"/>
                <a:cs typeface="Merriweather" pitchFamily="34" charset="-120"/>
              </a:rPr>
              <a:t>Existing Designs</a:t>
            </a:r>
            <a:endParaRPr lang="en-US" sz="1450" dirty="0"/>
          </a:p>
        </p:txBody>
      </p:sp>
      <p:sp>
        <p:nvSpPr>
          <p:cNvPr id="7" name="Text 4"/>
          <p:cNvSpPr/>
          <p:nvPr/>
        </p:nvSpPr>
        <p:spPr>
          <a:xfrm>
            <a:off x="889871" y="2753320"/>
            <a:ext cx="5840068" cy="209451"/>
          </a:xfrm>
          <a:prstGeom prst="rect">
            <a:avLst/>
          </a:prstGeom>
          <a:noFill/>
          <a:ln/>
        </p:spPr>
        <p:txBody>
          <a:bodyPr wrap="none" lIns="0" tIns="0" rIns="0" bIns="0" rtlCol="0" anchor="t"/>
          <a:lstStyle/>
          <a:p>
            <a:pPr marL="0" indent="0" algn="l">
              <a:lnSpc>
                <a:spcPct val="116000"/>
              </a:lnSpc>
              <a:buNone/>
            </a:pPr>
            <a:r>
              <a:rPr lang="en-US" sz="1150" dirty="0">
                <a:solidFill>
                  <a:srgbClr val="E2E6E9"/>
                </a:solidFill>
                <a:latin typeface="Merriweather" pitchFamily="34" charset="0"/>
                <a:ea typeface="Merriweather" pitchFamily="34" charset="-122"/>
                <a:cs typeface="Merriweather" pitchFamily="34" charset="-120"/>
              </a:rPr>
              <a:t>Reviewed basic, bidirectional, and universal shift register architectures.</a:t>
            </a:r>
            <a:endParaRPr lang="en-US" sz="1150" dirty="0"/>
          </a:p>
        </p:txBody>
      </p:sp>
      <p:sp>
        <p:nvSpPr>
          <p:cNvPr id="8" name="Shape 5"/>
          <p:cNvSpPr/>
          <p:nvPr/>
        </p:nvSpPr>
        <p:spPr>
          <a:xfrm>
            <a:off x="719814" y="3243759"/>
            <a:ext cx="6180181" cy="851991"/>
          </a:xfrm>
          <a:prstGeom prst="roundRect">
            <a:avLst>
              <a:gd name="adj" fmla="val 7446"/>
            </a:avLst>
          </a:prstGeom>
          <a:solidFill>
            <a:srgbClr val="09151A">
              <a:alpha val="95000"/>
            </a:srgbClr>
          </a:solidFill>
          <a:ln w="19050">
            <a:solidFill>
              <a:srgbClr val="194A99"/>
            </a:solidFill>
            <a:prstDash val="solid"/>
          </a:ln>
        </p:spPr>
      </p:sp>
      <p:sp>
        <p:nvSpPr>
          <p:cNvPr id="9" name="Text 6"/>
          <p:cNvSpPr/>
          <p:nvPr/>
        </p:nvSpPr>
        <p:spPr>
          <a:xfrm>
            <a:off x="889871" y="3413820"/>
            <a:ext cx="5840068" cy="235942"/>
          </a:xfrm>
          <a:prstGeom prst="rect">
            <a:avLst/>
          </a:prstGeom>
          <a:noFill/>
          <a:ln/>
        </p:spPr>
        <p:txBody>
          <a:bodyPr wrap="none" lIns="0" tIns="0" rIns="0" bIns="0" rtlCol="0" anchor="t"/>
          <a:lstStyle/>
          <a:p>
            <a:pPr marL="0" indent="0" algn="l">
              <a:lnSpc>
                <a:spcPct val="104000"/>
              </a:lnSpc>
              <a:buNone/>
            </a:pPr>
            <a:r>
              <a:rPr lang="en-US" sz="1450" dirty="0">
                <a:solidFill>
                  <a:srgbClr val="E2E6E9"/>
                </a:solidFill>
                <a:latin typeface="Merriweather" pitchFamily="34" charset="0"/>
                <a:ea typeface="Merriweather" pitchFamily="34" charset="-122"/>
                <a:cs typeface="Merriweather" pitchFamily="34" charset="-120"/>
              </a:rPr>
              <a:t>Implementation Analysis</a:t>
            </a:r>
            <a:endParaRPr lang="en-US" sz="1450" dirty="0"/>
          </a:p>
        </p:txBody>
      </p:sp>
      <p:sp>
        <p:nvSpPr>
          <p:cNvPr id="10" name="Text 7"/>
          <p:cNvSpPr/>
          <p:nvPr/>
        </p:nvSpPr>
        <p:spPr>
          <a:xfrm>
            <a:off x="889871" y="3716238"/>
            <a:ext cx="5840068" cy="209451"/>
          </a:xfrm>
          <a:prstGeom prst="rect">
            <a:avLst/>
          </a:prstGeom>
          <a:noFill/>
          <a:ln/>
        </p:spPr>
        <p:txBody>
          <a:bodyPr wrap="none" lIns="0" tIns="0" rIns="0" bIns="0" rtlCol="0" anchor="t"/>
          <a:lstStyle/>
          <a:p>
            <a:pPr marL="0" indent="0" algn="l">
              <a:lnSpc>
                <a:spcPct val="116000"/>
              </a:lnSpc>
              <a:buNone/>
            </a:pPr>
            <a:r>
              <a:rPr lang="en-US" sz="1150" dirty="0">
                <a:solidFill>
                  <a:srgbClr val="E2E6E9"/>
                </a:solidFill>
                <a:latin typeface="Merriweather" pitchFamily="34" charset="0"/>
                <a:ea typeface="Merriweather" pitchFamily="34" charset="-122"/>
                <a:cs typeface="Merriweather" pitchFamily="34" charset="-120"/>
              </a:rPr>
              <a:t>Compared discrete logic gates against modern integrated circuit solutions.</a:t>
            </a:r>
            <a:endParaRPr lang="en-US" sz="1150" dirty="0"/>
          </a:p>
        </p:txBody>
      </p:sp>
      <p:sp>
        <p:nvSpPr>
          <p:cNvPr id="11" name="Shape 8"/>
          <p:cNvSpPr/>
          <p:nvPr/>
        </p:nvSpPr>
        <p:spPr>
          <a:xfrm>
            <a:off x="719814" y="4206677"/>
            <a:ext cx="6180181" cy="851991"/>
          </a:xfrm>
          <a:prstGeom prst="roundRect">
            <a:avLst>
              <a:gd name="adj" fmla="val 7446"/>
            </a:avLst>
          </a:prstGeom>
          <a:solidFill>
            <a:srgbClr val="09151A">
              <a:alpha val="95000"/>
            </a:srgbClr>
          </a:solidFill>
          <a:ln w="19050">
            <a:solidFill>
              <a:srgbClr val="194A99"/>
            </a:solidFill>
            <a:prstDash val="solid"/>
          </a:ln>
        </p:spPr>
      </p:sp>
      <p:sp>
        <p:nvSpPr>
          <p:cNvPr id="12" name="Text 9"/>
          <p:cNvSpPr/>
          <p:nvPr/>
        </p:nvSpPr>
        <p:spPr>
          <a:xfrm>
            <a:off x="889871" y="4376738"/>
            <a:ext cx="5840068" cy="235942"/>
          </a:xfrm>
          <a:prstGeom prst="rect">
            <a:avLst/>
          </a:prstGeom>
          <a:noFill/>
          <a:ln/>
        </p:spPr>
        <p:txBody>
          <a:bodyPr wrap="none" lIns="0" tIns="0" rIns="0" bIns="0" rtlCol="0" anchor="t"/>
          <a:lstStyle/>
          <a:p>
            <a:pPr marL="0" indent="0" algn="l">
              <a:lnSpc>
                <a:spcPct val="104000"/>
              </a:lnSpc>
              <a:buNone/>
            </a:pPr>
            <a:r>
              <a:rPr lang="en-US" sz="1450" dirty="0">
                <a:solidFill>
                  <a:srgbClr val="E2E6E9"/>
                </a:solidFill>
                <a:latin typeface="Merriweather" pitchFamily="34" charset="0"/>
                <a:ea typeface="Merriweather" pitchFamily="34" charset="-122"/>
                <a:cs typeface="Merriweather" pitchFamily="34" charset="-120"/>
              </a:rPr>
              <a:t>Multiplexer Architectures</a:t>
            </a:r>
            <a:endParaRPr lang="en-US" sz="1450" dirty="0"/>
          </a:p>
        </p:txBody>
      </p:sp>
      <p:sp>
        <p:nvSpPr>
          <p:cNvPr id="13" name="Text 10"/>
          <p:cNvSpPr/>
          <p:nvPr/>
        </p:nvSpPr>
        <p:spPr>
          <a:xfrm>
            <a:off x="889871" y="4679156"/>
            <a:ext cx="5840068" cy="209451"/>
          </a:xfrm>
          <a:prstGeom prst="rect">
            <a:avLst/>
          </a:prstGeom>
          <a:noFill/>
          <a:ln/>
        </p:spPr>
        <p:txBody>
          <a:bodyPr wrap="none" lIns="0" tIns="0" rIns="0" bIns="0" rtlCol="0" anchor="t"/>
          <a:lstStyle/>
          <a:p>
            <a:pPr marL="0" indent="0" algn="l">
              <a:lnSpc>
                <a:spcPct val="116000"/>
              </a:lnSpc>
              <a:buNone/>
            </a:pPr>
            <a:r>
              <a:rPr lang="en-US" sz="1150" dirty="0">
                <a:solidFill>
                  <a:srgbClr val="E2E6E9"/>
                </a:solidFill>
                <a:latin typeface="Merriweather" pitchFamily="34" charset="0"/>
                <a:ea typeface="Merriweather" pitchFamily="34" charset="-122"/>
                <a:cs typeface="Merriweather" pitchFamily="34" charset="-120"/>
              </a:rPr>
              <a:t>Detailed comparison of various multiplexer configurations in register design.</a:t>
            </a:r>
            <a:endParaRPr lang="en-US" sz="1150" dirty="0"/>
          </a:p>
        </p:txBody>
      </p:sp>
      <p:sp>
        <p:nvSpPr>
          <p:cNvPr id="14" name="Shape 11"/>
          <p:cNvSpPr/>
          <p:nvPr/>
        </p:nvSpPr>
        <p:spPr>
          <a:xfrm>
            <a:off x="719814" y="5169595"/>
            <a:ext cx="6180181" cy="1061442"/>
          </a:xfrm>
          <a:prstGeom prst="roundRect">
            <a:avLst>
              <a:gd name="adj" fmla="val 5977"/>
            </a:avLst>
          </a:prstGeom>
          <a:solidFill>
            <a:srgbClr val="09151A">
              <a:alpha val="95000"/>
            </a:srgbClr>
          </a:solidFill>
          <a:ln w="19050">
            <a:solidFill>
              <a:srgbClr val="194A99"/>
            </a:solidFill>
            <a:prstDash val="solid"/>
          </a:ln>
        </p:spPr>
      </p:sp>
      <p:sp>
        <p:nvSpPr>
          <p:cNvPr id="15" name="Text 12"/>
          <p:cNvSpPr/>
          <p:nvPr/>
        </p:nvSpPr>
        <p:spPr>
          <a:xfrm>
            <a:off x="889871" y="5339655"/>
            <a:ext cx="5840068" cy="235942"/>
          </a:xfrm>
          <a:prstGeom prst="rect">
            <a:avLst/>
          </a:prstGeom>
          <a:noFill/>
          <a:ln/>
        </p:spPr>
        <p:txBody>
          <a:bodyPr wrap="none" lIns="0" tIns="0" rIns="0" bIns="0" rtlCol="0" anchor="t"/>
          <a:lstStyle/>
          <a:p>
            <a:pPr marL="0" indent="0" algn="l">
              <a:lnSpc>
                <a:spcPct val="104000"/>
              </a:lnSpc>
              <a:buNone/>
            </a:pPr>
            <a:r>
              <a:rPr lang="en-US" sz="1450" dirty="0">
                <a:solidFill>
                  <a:srgbClr val="E2E6E9"/>
                </a:solidFill>
                <a:latin typeface="Merriweather" pitchFamily="34" charset="0"/>
                <a:ea typeface="Merriweather" pitchFamily="34" charset="-122"/>
                <a:cs typeface="Merriweather" pitchFamily="34" charset="-120"/>
              </a:rPr>
              <a:t>Design Optimization</a:t>
            </a:r>
            <a:endParaRPr lang="en-US" sz="1450" dirty="0"/>
          </a:p>
        </p:txBody>
      </p:sp>
      <p:sp>
        <p:nvSpPr>
          <p:cNvPr id="16" name="Text 13"/>
          <p:cNvSpPr/>
          <p:nvPr/>
        </p:nvSpPr>
        <p:spPr>
          <a:xfrm>
            <a:off x="889871" y="5642074"/>
            <a:ext cx="5840068" cy="418902"/>
          </a:xfrm>
          <a:prstGeom prst="rect">
            <a:avLst/>
          </a:prstGeom>
          <a:noFill/>
          <a:ln/>
        </p:spPr>
        <p:txBody>
          <a:bodyPr wrap="square" lIns="0" tIns="0" rIns="0" bIns="0" rtlCol="0" anchor="t">
            <a:normAutofit/>
          </a:bodyPr>
          <a:lstStyle/>
          <a:p>
            <a:pPr marL="0" indent="0" algn="l">
              <a:lnSpc>
                <a:spcPct val="116000"/>
              </a:lnSpc>
              <a:buNone/>
            </a:pPr>
            <a:r>
              <a:rPr lang="en-US" sz="1150" dirty="0">
                <a:solidFill>
                  <a:srgbClr val="E2E6E9"/>
                </a:solidFill>
                <a:latin typeface="Merriweather" pitchFamily="34" charset="0"/>
                <a:ea typeface="Merriweather" pitchFamily="34" charset="-122"/>
                <a:cs typeface="Merriweather" pitchFamily="34" charset="-120"/>
              </a:rPr>
              <a:t>Extensive study of IEEE papers focusing on register design and performance optimization.</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211814" y="227975"/>
            <a:ext cx="10752067" cy="321270"/>
          </a:xfrm>
          <a:prstGeom prst="rect">
            <a:avLst/>
          </a:prstGeom>
          <a:noFill/>
          <a:ln/>
        </p:spPr>
        <p:txBody>
          <a:bodyPr wrap="none" lIns="0" tIns="0" rIns="0" bIns="0" rtlCol="0" anchor="t"/>
          <a:lstStyle/>
          <a:p>
            <a:pPr marL="0" indent="0" algn="l">
              <a:lnSpc>
                <a:spcPct val="104000"/>
              </a:lnSpc>
              <a:buNone/>
            </a:pPr>
            <a:r>
              <a:rPr lang="en-US" sz="2000" dirty="0">
                <a:solidFill>
                  <a:srgbClr val="F5F0F0"/>
                </a:solidFill>
                <a:latin typeface="Merriweather" pitchFamily="34" charset="0"/>
                <a:ea typeface="Merriweather" pitchFamily="34" charset="-122"/>
                <a:cs typeface="Merriweather" pitchFamily="34" charset="-120"/>
              </a:rPr>
              <a:t>Universal Shift Register Design</a:t>
            </a:r>
            <a:endParaRPr lang="en-US" sz="2000" dirty="0"/>
          </a:p>
        </p:txBody>
      </p:sp>
      <p:pic>
        <p:nvPicPr>
          <p:cNvPr id="3" name="Image 0" descr="preencoded.png"/>
          <p:cNvPicPr>
            <a:picLocks noChangeAspect="1"/>
          </p:cNvPicPr>
          <p:nvPr/>
        </p:nvPicPr>
        <p:blipFill>
          <a:blip r:embed="rId3"/>
          <a:stretch>
            <a:fillRect/>
          </a:stretch>
        </p:blipFill>
        <p:spPr>
          <a:xfrm>
            <a:off x="335280" y="137160"/>
            <a:ext cx="8789073" cy="6068913"/>
          </a:xfrm>
          <a:prstGeom prst="rect">
            <a:avLst/>
          </a:prstGeom>
        </p:spPr>
      </p:pic>
      <p:sp>
        <p:nvSpPr>
          <p:cNvPr id="4" name="Text 1"/>
          <p:cNvSpPr/>
          <p:nvPr/>
        </p:nvSpPr>
        <p:spPr>
          <a:xfrm>
            <a:off x="795021" y="4703279"/>
            <a:ext cx="2419161" cy="302403"/>
          </a:xfrm>
          <a:prstGeom prst="rect">
            <a:avLst/>
          </a:prstGeom>
          <a:noFill/>
          <a:ln/>
        </p:spPr>
        <p:txBody>
          <a:bodyPr wrap="none" lIns="0" tIns="0" rIns="0" bIns="0" rtlCol="0" anchor="t"/>
          <a:lstStyle/>
          <a:p>
            <a:pPr marL="0" indent="0" algn="ctr">
              <a:lnSpc>
                <a:spcPct val="104000"/>
              </a:lnSpc>
              <a:buNone/>
            </a:pPr>
            <a:r>
              <a:rPr lang="en-US" sz="1900" dirty="0">
                <a:solidFill>
                  <a:srgbClr val="E2E6E9"/>
                </a:solidFill>
                <a:latin typeface="Merriweather" pitchFamily="34" charset="0"/>
                <a:ea typeface="Merriweather" pitchFamily="34" charset="-122"/>
                <a:cs typeface="Merriweather" pitchFamily="34" charset="-120"/>
              </a:rPr>
              <a:t>D Flip-Flops</a:t>
            </a:r>
            <a:endParaRPr lang="en-US" sz="1900" dirty="0"/>
          </a:p>
        </p:txBody>
      </p:sp>
      <p:sp>
        <p:nvSpPr>
          <p:cNvPr id="5" name="Text 2"/>
          <p:cNvSpPr/>
          <p:nvPr/>
        </p:nvSpPr>
        <p:spPr>
          <a:xfrm>
            <a:off x="795021" y="5187433"/>
            <a:ext cx="2591190" cy="362883"/>
          </a:xfrm>
          <a:prstGeom prst="rect">
            <a:avLst/>
          </a:prstGeom>
          <a:noFill/>
          <a:ln/>
        </p:spPr>
        <p:txBody>
          <a:bodyPr wrap="square" lIns="0" tIns="0" rIns="0" bIns="0" rtlCol="0" anchor="t">
            <a:normAutofit/>
          </a:bodyPr>
          <a:lstStyle/>
          <a:p>
            <a:pPr marL="0" indent="0" algn="ctr">
              <a:lnSpc>
                <a:spcPct val="78000"/>
              </a:lnSpc>
              <a:buNone/>
            </a:pPr>
            <a:r>
              <a:rPr lang="en-US" sz="1500" dirty="0">
                <a:solidFill>
                  <a:srgbClr val="E2E6E9"/>
                </a:solidFill>
                <a:latin typeface="Merriweather" pitchFamily="34" charset="0"/>
                <a:ea typeface="Merriweather" pitchFamily="34" charset="-122"/>
                <a:cs typeface="Merriweather" pitchFamily="34" charset="-120"/>
              </a:rPr>
              <a:t>Four edge-triggered D flip-flops in series</a:t>
            </a:r>
            <a:endParaRPr lang="en-US" sz="1500" dirty="0"/>
          </a:p>
        </p:txBody>
      </p:sp>
      <p:sp>
        <p:nvSpPr>
          <p:cNvPr id="6" name="Text 3"/>
          <p:cNvSpPr/>
          <p:nvPr/>
        </p:nvSpPr>
        <p:spPr>
          <a:xfrm>
            <a:off x="2394427" y="1072995"/>
            <a:ext cx="2419161" cy="302402"/>
          </a:xfrm>
          <a:prstGeom prst="rect">
            <a:avLst/>
          </a:prstGeom>
          <a:noFill/>
          <a:ln/>
        </p:spPr>
        <p:txBody>
          <a:bodyPr wrap="none" lIns="0" tIns="0" rIns="0" bIns="0" rtlCol="0" anchor="t"/>
          <a:lstStyle/>
          <a:p>
            <a:pPr marL="0" indent="0" algn="ctr">
              <a:lnSpc>
                <a:spcPct val="104000"/>
              </a:lnSpc>
              <a:buNone/>
            </a:pPr>
            <a:r>
              <a:rPr lang="en-US" sz="1900" dirty="0">
                <a:solidFill>
                  <a:srgbClr val="E2E6E9"/>
                </a:solidFill>
                <a:latin typeface="Merriweather" pitchFamily="34" charset="0"/>
                <a:ea typeface="Merriweather" pitchFamily="34" charset="-122"/>
                <a:cs typeface="Merriweather" pitchFamily="34" charset="-120"/>
              </a:rPr>
              <a:t>Multiplexers</a:t>
            </a:r>
            <a:endParaRPr lang="en-US" sz="1900" dirty="0"/>
          </a:p>
        </p:txBody>
      </p:sp>
      <p:sp>
        <p:nvSpPr>
          <p:cNvPr id="7" name="Text 4"/>
          <p:cNvSpPr/>
          <p:nvPr/>
        </p:nvSpPr>
        <p:spPr>
          <a:xfrm>
            <a:off x="2536816" y="1422302"/>
            <a:ext cx="2591191" cy="362883"/>
          </a:xfrm>
          <a:prstGeom prst="rect">
            <a:avLst/>
          </a:prstGeom>
          <a:noFill/>
          <a:ln/>
        </p:spPr>
        <p:txBody>
          <a:bodyPr wrap="square" lIns="0" tIns="0" rIns="0" bIns="0" rtlCol="0" anchor="t">
            <a:normAutofit/>
          </a:bodyPr>
          <a:lstStyle/>
          <a:p>
            <a:pPr marL="0" indent="0" algn="ctr">
              <a:lnSpc>
                <a:spcPct val="78000"/>
              </a:lnSpc>
              <a:buNone/>
            </a:pPr>
            <a:r>
              <a:rPr lang="en-US" sz="1500" dirty="0">
                <a:solidFill>
                  <a:srgbClr val="E2E6E9"/>
                </a:solidFill>
                <a:latin typeface="Merriweather" pitchFamily="34" charset="0"/>
                <a:ea typeface="Merriweather" pitchFamily="34" charset="-122"/>
                <a:cs typeface="Merriweather" pitchFamily="34" charset="-120"/>
              </a:rPr>
              <a:t>Four 4:1 MUXes selecting inputs per mode</a:t>
            </a:r>
            <a:endParaRPr lang="en-US" sz="1500" dirty="0"/>
          </a:p>
        </p:txBody>
      </p:sp>
      <p:sp>
        <p:nvSpPr>
          <p:cNvPr id="8" name="Text 5"/>
          <p:cNvSpPr/>
          <p:nvPr/>
        </p:nvSpPr>
        <p:spPr>
          <a:xfrm>
            <a:off x="4547408" y="4697326"/>
            <a:ext cx="2419161" cy="302403"/>
          </a:xfrm>
          <a:prstGeom prst="rect">
            <a:avLst/>
          </a:prstGeom>
          <a:noFill/>
          <a:ln/>
        </p:spPr>
        <p:txBody>
          <a:bodyPr wrap="none" lIns="0" tIns="0" rIns="0" bIns="0" rtlCol="0" anchor="t"/>
          <a:lstStyle/>
          <a:p>
            <a:pPr marL="0" indent="0" algn="ctr">
              <a:lnSpc>
                <a:spcPct val="104000"/>
              </a:lnSpc>
              <a:buNone/>
            </a:pPr>
            <a:r>
              <a:rPr lang="en-US" sz="1900" dirty="0">
                <a:solidFill>
                  <a:srgbClr val="E2E6E9"/>
                </a:solidFill>
                <a:latin typeface="Merriweather" pitchFamily="34" charset="0"/>
                <a:ea typeface="Merriweather" pitchFamily="34" charset="-122"/>
                <a:cs typeface="Merriweather" pitchFamily="34" charset="-120"/>
              </a:rPr>
              <a:t>Mode Select</a:t>
            </a:r>
            <a:endParaRPr lang="en-US" sz="1900" dirty="0"/>
          </a:p>
        </p:txBody>
      </p:sp>
      <p:sp>
        <p:nvSpPr>
          <p:cNvPr id="9" name="Text 6"/>
          <p:cNvSpPr/>
          <p:nvPr/>
        </p:nvSpPr>
        <p:spPr>
          <a:xfrm>
            <a:off x="4547408" y="5163136"/>
            <a:ext cx="2591191" cy="362883"/>
          </a:xfrm>
          <a:prstGeom prst="rect">
            <a:avLst/>
          </a:prstGeom>
          <a:noFill/>
          <a:ln/>
        </p:spPr>
        <p:txBody>
          <a:bodyPr wrap="square" lIns="0" tIns="0" rIns="0" bIns="0" rtlCol="0" anchor="t">
            <a:normAutofit/>
          </a:bodyPr>
          <a:lstStyle/>
          <a:p>
            <a:pPr marL="0" indent="0" algn="ctr">
              <a:lnSpc>
                <a:spcPct val="78000"/>
              </a:lnSpc>
              <a:buNone/>
            </a:pPr>
            <a:r>
              <a:rPr lang="en-US" sz="1500" dirty="0">
                <a:solidFill>
                  <a:srgbClr val="E2E6E9"/>
                </a:solidFill>
                <a:latin typeface="Merriweather" pitchFamily="34" charset="0"/>
                <a:ea typeface="Merriweather" pitchFamily="34" charset="-122"/>
                <a:cs typeface="Merriweather" pitchFamily="34" charset="-120"/>
              </a:rPr>
              <a:t>Two select lines S1, S0 choose operation</a:t>
            </a:r>
            <a:endParaRPr lang="en-US" sz="1500" dirty="0"/>
          </a:p>
        </p:txBody>
      </p:sp>
      <p:sp>
        <p:nvSpPr>
          <p:cNvPr id="10" name="Text 7"/>
          <p:cNvSpPr/>
          <p:nvPr/>
        </p:nvSpPr>
        <p:spPr>
          <a:xfrm>
            <a:off x="6263901" y="1131665"/>
            <a:ext cx="2419161" cy="302402"/>
          </a:xfrm>
          <a:prstGeom prst="rect">
            <a:avLst/>
          </a:prstGeom>
          <a:noFill/>
          <a:ln/>
        </p:spPr>
        <p:txBody>
          <a:bodyPr wrap="none" lIns="0" tIns="0" rIns="0" bIns="0" rtlCol="0" anchor="t"/>
          <a:lstStyle/>
          <a:p>
            <a:pPr marL="0" indent="0" algn="ctr">
              <a:lnSpc>
                <a:spcPct val="104000"/>
              </a:lnSpc>
              <a:buNone/>
            </a:pPr>
            <a:r>
              <a:rPr lang="en-US" sz="1900" dirty="0">
                <a:solidFill>
                  <a:srgbClr val="E2E6E9"/>
                </a:solidFill>
                <a:latin typeface="Merriweather" pitchFamily="34" charset="0"/>
                <a:ea typeface="Merriweather" pitchFamily="34" charset="-122"/>
                <a:cs typeface="Merriweather" pitchFamily="34" charset="-120"/>
              </a:rPr>
              <a:t>Shift &amp; Load</a:t>
            </a:r>
            <a:endParaRPr lang="en-US" sz="1900" dirty="0"/>
          </a:p>
        </p:txBody>
      </p:sp>
      <p:sp>
        <p:nvSpPr>
          <p:cNvPr id="11" name="Text 8"/>
          <p:cNvSpPr/>
          <p:nvPr/>
        </p:nvSpPr>
        <p:spPr>
          <a:xfrm>
            <a:off x="6263901" y="1516643"/>
            <a:ext cx="2591190" cy="362883"/>
          </a:xfrm>
          <a:prstGeom prst="rect">
            <a:avLst/>
          </a:prstGeom>
          <a:noFill/>
          <a:ln/>
        </p:spPr>
        <p:txBody>
          <a:bodyPr wrap="square" lIns="0" tIns="0" rIns="0" bIns="0" rtlCol="0" anchor="t">
            <a:normAutofit/>
          </a:bodyPr>
          <a:lstStyle/>
          <a:p>
            <a:pPr marL="0" indent="0" algn="ctr">
              <a:lnSpc>
                <a:spcPct val="78000"/>
              </a:lnSpc>
              <a:buNone/>
            </a:pPr>
            <a:r>
              <a:rPr lang="en-US" sz="1500" dirty="0">
                <a:solidFill>
                  <a:srgbClr val="E2E6E9"/>
                </a:solidFill>
                <a:latin typeface="Merriweather" pitchFamily="34" charset="0"/>
                <a:ea typeface="Merriweather" pitchFamily="34" charset="-122"/>
                <a:cs typeface="Merriweather" pitchFamily="34" charset="-120"/>
              </a:rPr>
              <a:t>Hold, right/left shift, and parallel load</a:t>
            </a:r>
            <a:endParaRPr lang="en-US" sz="1500" dirty="0"/>
          </a:p>
        </p:txBody>
      </p:sp>
      <p:sp>
        <p:nvSpPr>
          <p:cNvPr id="12" name="Text 9"/>
          <p:cNvSpPr/>
          <p:nvPr/>
        </p:nvSpPr>
        <p:spPr>
          <a:xfrm>
            <a:off x="567414" y="6129550"/>
            <a:ext cx="10752067" cy="246856"/>
          </a:xfrm>
          <a:prstGeom prst="rect">
            <a:avLst/>
          </a:prstGeom>
          <a:noFill/>
          <a:ln/>
        </p:spPr>
        <p:txBody>
          <a:bodyPr wrap="square" lIns="0" tIns="0" rIns="0" bIns="0" rtlCol="0" anchor="t">
            <a:normAutofit/>
          </a:bodyPr>
          <a:lstStyle/>
          <a:p>
            <a:pPr marL="0" indent="0" algn="l">
              <a:lnSpc>
                <a:spcPct val="100000"/>
              </a:lnSpc>
              <a:buNone/>
            </a:pPr>
            <a:r>
              <a:rPr lang="en-US" sz="800" dirty="0">
                <a:solidFill>
                  <a:srgbClr val="E2E6E9"/>
                </a:solidFill>
                <a:latin typeface="Merriweather" pitchFamily="34" charset="0"/>
                <a:ea typeface="Merriweather" pitchFamily="34" charset="-122"/>
                <a:cs typeface="Merriweather" pitchFamily="34" charset="-120"/>
              </a:rPr>
              <a:t>This design combines </a:t>
            </a:r>
            <a:r>
              <a:rPr lang="en-US" sz="800" b="1" dirty="0">
                <a:solidFill>
                  <a:srgbClr val="E2E6E9"/>
                </a:solidFill>
                <a:latin typeface="Merriweather Bold" pitchFamily="34" charset="0"/>
                <a:ea typeface="Merriweather Bold" pitchFamily="34" charset="-122"/>
                <a:cs typeface="Merriweather Bold" pitchFamily="34" charset="-120"/>
              </a:rPr>
              <a:t>4 D flip-flops</a:t>
            </a:r>
            <a:r>
              <a:rPr lang="en-US" sz="800" dirty="0">
                <a:solidFill>
                  <a:srgbClr val="E2E6E9"/>
                </a:solidFill>
                <a:latin typeface="Merriweather" pitchFamily="34" charset="0"/>
                <a:ea typeface="Merriweather" pitchFamily="34" charset="-122"/>
                <a:cs typeface="Merriweather" pitchFamily="34" charset="-120"/>
              </a:rPr>
              <a:t> with </a:t>
            </a:r>
            <a:r>
              <a:rPr lang="en-US" sz="800" b="1" dirty="0">
                <a:solidFill>
                  <a:srgbClr val="E2E6E9"/>
                </a:solidFill>
                <a:latin typeface="Merriweather Bold" pitchFamily="34" charset="0"/>
                <a:ea typeface="Merriweather Bold" pitchFamily="34" charset="-122"/>
                <a:cs typeface="Merriweather Bold" pitchFamily="34" charset="-120"/>
              </a:rPr>
              <a:t>4 multiplexers</a:t>
            </a:r>
            <a:r>
              <a:rPr lang="en-US" sz="800" dirty="0">
                <a:solidFill>
                  <a:srgbClr val="E2E6E9"/>
                </a:solidFill>
                <a:latin typeface="Merriweather" pitchFamily="34" charset="0"/>
                <a:ea typeface="Merriweather" pitchFamily="34" charset="-122"/>
                <a:cs typeface="Merriweather" pitchFamily="34" charset="-120"/>
              </a:rPr>
              <a:t>, controlled by </a:t>
            </a:r>
            <a:r>
              <a:rPr lang="en-US" sz="800" b="1" dirty="0">
                <a:solidFill>
                  <a:srgbClr val="E2E6E9"/>
                </a:solidFill>
                <a:latin typeface="Merriweather Bold" pitchFamily="34" charset="0"/>
                <a:ea typeface="Merriweather Bold" pitchFamily="34" charset="-122"/>
                <a:cs typeface="Merriweather Bold" pitchFamily="34" charset="-120"/>
              </a:rPr>
              <a:t>two select lines (S1, S0)</a:t>
            </a:r>
            <a:r>
              <a:rPr lang="en-US" sz="800" dirty="0">
                <a:solidFill>
                  <a:srgbClr val="E2E6E9"/>
                </a:solidFill>
                <a:latin typeface="Merriweather" pitchFamily="34" charset="0"/>
                <a:ea typeface="Merriweather" pitchFamily="34" charset="-122"/>
                <a:cs typeface="Merriweather" pitchFamily="34" charset="-120"/>
              </a:rPr>
              <a:t>. This enables essential operations including hold, right shift, left shift, and parallel load. </a:t>
            </a:r>
            <a:r>
              <a:rPr lang="en-US" sz="800" b="1" dirty="0">
                <a:solidFill>
                  <a:srgbClr val="E2E6E9"/>
                </a:solidFill>
                <a:latin typeface="Merriweather Bold" pitchFamily="34" charset="0"/>
                <a:ea typeface="Merriweather Bold" pitchFamily="34" charset="-122"/>
                <a:cs typeface="Merriweather Bold" pitchFamily="34" charset="-120"/>
              </a:rPr>
              <a:t>Synchronous clocking</a:t>
            </a:r>
            <a:r>
              <a:rPr lang="en-US" sz="800" dirty="0">
                <a:solidFill>
                  <a:srgbClr val="E2E6E9"/>
                </a:solidFill>
                <a:latin typeface="Merriweather" pitchFamily="34" charset="0"/>
                <a:ea typeface="Merriweather" pitchFamily="34" charset="-122"/>
                <a:cs typeface="Merriweather" pitchFamily="34" charset="-120"/>
              </a:rPr>
              <a:t> ensures predictable timing and reliable data manipulation across all modes.</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719814" y="1154311"/>
            <a:ext cx="6180181" cy="1285478"/>
          </a:xfrm>
          <a:prstGeom prst="rect">
            <a:avLst/>
          </a:prstGeom>
          <a:noFill/>
          <a:ln/>
        </p:spPr>
        <p:txBody>
          <a:bodyPr wrap="square" lIns="0" tIns="0" rIns="0" bIns="0" rtlCol="0" anchor="t">
            <a:normAutofit/>
          </a:bodyPr>
          <a:lstStyle/>
          <a:p>
            <a:pPr marL="0" indent="0" algn="l">
              <a:lnSpc>
                <a:spcPct val="104000"/>
              </a:lnSpc>
              <a:buNone/>
            </a:pPr>
            <a:r>
              <a:rPr lang="en-US" sz="4000" dirty="0">
                <a:solidFill>
                  <a:srgbClr val="F5F0F0"/>
                </a:solidFill>
                <a:latin typeface="Merriweather" pitchFamily="34" charset="0"/>
                <a:ea typeface="Merriweather" pitchFamily="34" charset="-122"/>
                <a:cs typeface="Merriweather" pitchFamily="34" charset="-120"/>
              </a:rPr>
              <a:t>What Is A Universal Shift Register?</a:t>
            </a:r>
            <a:endParaRPr lang="en-US" sz="4000" dirty="0"/>
          </a:p>
        </p:txBody>
      </p:sp>
      <p:sp>
        <p:nvSpPr>
          <p:cNvPr id="4" name="Shape 1"/>
          <p:cNvSpPr/>
          <p:nvPr/>
        </p:nvSpPr>
        <p:spPr>
          <a:xfrm>
            <a:off x="719814" y="2748260"/>
            <a:ext cx="2987203" cy="1539379"/>
          </a:xfrm>
          <a:prstGeom prst="roundRect">
            <a:avLst>
              <a:gd name="adj" fmla="val 5612"/>
            </a:avLst>
          </a:prstGeom>
          <a:solidFill>
            <a:srgbClr val="003180"/>
          </a:solidFill>
          <a:ln w="12700">
            <a:solidFill>
              <a:srgbClr val="194A99"/>
            </a:solidFill>
            <a:prstDash val="solid"/>
          </a:ln>
        </p:spPr>
      </p:sp>
      <p:sp>
        <p:nvSpPr>
          <p:cNvPr id="5" name="Text 2"/>
          <p:cNvSpPr/>
          <p:nvPr/>
        </p:nvSpPr>
        <p:spPr>
          <a:xfrm>
            <a:off x="938189" y="2966641"/>
            <a:ext cx="2550453" cy="321270"/>
          </a:xfrm>
          <a:prstGeom prst="rect">
            <a:avLst/>
          </a:prstGeom>
          <a:noFill/>
          <a:ln/>
        </p:spPr>
        <p:txBody>
          <a:bodyPr wrap="none" lIns="0" tIns="0" rIns="0" bIns="0" rtlCol="0" anchor="t"/>
          <a:lstStyle/>
          <a:p>
            <a:pPr marL="0" indent="0" algn="l">
              <a:lnSpc>
                <a:spcPct val="104000"/>
              </a:lnSpc>
              <a:buNone/>
            </a:pPr>
            <a:r>
              <a:rPr lang="en-US" sz="2000" dirty="0">
                <a:solidFill>
                  <a:srgbClr val="E2E6E9"/>
                </a:solidFill>
                <a:latin typeface="Merriweather" pitchFamily="34" charset="0"/>
                <a:ea typeface="Merriweather" pitchFamily="34" charset="-122"/>
                <a:cs typeface="Merriweather" pitchFamily="34" charset="-120"/>
              </a:rPr>
              <a:t>Store</a:t>
            </a:r>
            <a:endParaRPr lang="en-US" sz="2000" dirty="0"/>
          </a:p>
        </p:txBody>
      </p:sp>
      <p:sp>
        <p:nvSpPr>
          <p:cNvPr id="6" name="Text 3"/>
          <p:cNvSpPr/>
          <p:nvPr/>
        </p:nvSpPr>
        <p:spPr>
          <a:xfrm>
            <a:off x="938189" y="3411240"/>
            <a:ext cx="2550453" cy="658019"/>
          </a:xfrm>
          <a:prstGeom prst="rect">
            <a:avLst/>
          </a:prstGeom>
          <a:noFill/>
          <a:ln/>
        </p:spPr>
        <p:txBody>
          <a:bodyPr wrap="square" lIns="0" tIns="0" rIns="0" bIns="0" rtlCol="0" anchor="t">
            <a:normAutofit/>
          </a:bodyPr>
          <a:lstStyle/>
          <a:p>
            <a:pPr marL="0" indent="0" algn="l">
              <a:lnSpc>
                <a:spcPct val="133000"/>
              </a:lnSpc>
              <a:buNone/>
            </a:pPr>
            <a:r>
              <a:rPr lang="en-US" sz="1600" dirty="0">
                <a:solidFill>
                  <a:srgbClr val="E2E6E9"/>
                </a:solidFill>
                <a:latin typeface="Merriweather" pitchFamily="34" charset="0"/>
                <a:ea typeface="Merriweather" pitchFamily="34" charset="-122"/>
                <a:cs typeface="Merriweather" pitchFamily="34" charset="-120"/>
              </a:rPr>
              <a:t>Holds binary data across clock cycles</a:t>
            </a:r>
            <a:endParaRPr lang="en-US" sz="1600" dirty="0"/>
          </a:p>
        </p:txBody>
      </p:sp>
      <p:sp>
        <p:nvSpPr>
          <p:cNvPr id="7" name="Shape 4"/>
          <p:cNvSpPr/>
          <p:nvPr/>
        </p:nvSpPr>
        <p:spPr>
          <a:xfrm>
            <a:off x="3912693" y="2748260"/>
            <a:ext cx="2987303" cy="1539379"/>
          </a:xfrm>
          <a:prstGeom prst="roundRect">
            <a:avLst>
              <a:gd name="adj" fmla="val 5612"/>
            </a:avLst>
          </a:prstGeom>
          <a:solidFill>
            <a:srgbClr val="003180"/>
          </a:solidFill>
          <a:ln w="12700">
            <a:solidFill>
              <a:srgbClr val="194A99"/>
            </a:solidFill>
            <a:prstDash val="solid"/>
          </a:ln>
        </p:spPr>
      </p:sp>
      <p:sp>
        <p:nvSpPr>
          <p:cNvPr id="8" name="Text 5"/>
          <p:cNvSpPr/>
          <p:nvPr/>
        </p:nvSpPr>
        <p:spPr>
          <a:xfrm>
            <a:off x="4131068" y="2966641"/>
            <a:ext cx="2550553" cy="321270"/>
          </a:xfrm>
          <a:prstGeom prst="rect">
            <a:avLst/>
          </a:prstGeom>
          <a:noFill/>
          <a:ln/>
        </p:spPr>
        <p:txBody>
          <a:bodyPr wrap="none" lIns="0" tIns="0" rIns="0" bIns="0" rtlCol="0" anchor="t"/>
          <a:lstStyle/>
          <a:p>
            <a:pPr marL="0" indent="0" algn="l">
              <a:lnSpc>
                <a:spcPct val="104000"/>
              </a:lnSpc>
              <a:buNone/>
            </a:pPr>
            <a:r>
              <a:rPr lang="en-US" sz="2000" dirty="0">
                <a:solidFill>
                  <a:srgbClr val="E2E6E9"/>
                </a:solidFill>
                <a:latin typeface="Merriweather" pitchFamily="34" charset="0"/>
                <a:ea typeface="Merriweather" pitchFamily="34" charset="-122"/>
                <a:cs typeface="Merriweather" pitchFamily="34" charset="-120"/>
              </a:rPr>
              <a:t>Shift ←→</a:t>
            </a:r>
            <a:endParaRPr lang="en-US" sz="2000" dirty="0"/>
          </a:p>
        </p:txBody>
      </p:sp>
      <p:sp>
        <p:nvSpPr>
          <p:cNvPr id="9" name="Text 6"/>
          <p:cNvSpPr/>
          <p:nvPr/>
        </p:nvSpPr>
        <p:spPr>
          <a:xfrm>
            <a:off x="4131068" y="3411240"/>
            <a:ext cx="2550553" cy="658019"/>
          </a:xfrm>
          <a:prstGeom prst="rect">
            <a:avLst/>
          </a:prstGeom>
          <a:noFill/>
          <a:ln/>
        </p:spPr>
        <p:txBody>
          <a:bodyPr wrap="square" lIns="0" tIns="0" rIns="0" bIns="0" rtlCol="0" anchor="t">
            <a:normAutofit/>
          </a:bodyPr>
          <a:lstStyle/>
          <a:p>
            <a:pPr marL="0" indent="0" algn="l">
              <a:lnSpc>
                <a:spcPct val="133000"/>
              </a:lnSpc>
              <a:buNone/>
            </a:pPr>
            <a:r>
              <a:rPr lang="en-US" sz="1600" dirty="0">
                <a:solidFill>
                  <a:srgbClr val="E2E6E9"/>
                </a:solidFill>
                <a:latin typeface="Merriweather" pitchFamily="34" charset="0"/>
                <a:ea typeface="Merriweather" pitchFamily="34" charset="-122"/>
                <a:cs typeface="Merriweather" pitchFamily="34" charset="-120"/>
              </a:rPr>
              <a:t>Bidirectional left &amp; right shifting</a:t>
            </a:r>
            <a:endParaRPr lang="en-US" sz="1600" dirty="0"/>
          </a:p>
        </p:txBody>
      </p:sp>
      <p:sp>
        <p:nvSpPr>
          <p:cNvPr id="10" name="Shape 7"/>
          <p:cNvSpPr/>
          <p:nvPr/>
        </p:nvSpPr>
        <p:spPr>
          <a:xfrm>
            <a:off x="719814" y="4493320"/>
            <a:ext cx="6180181" cy="1210370"/>
          </a:xfrm>
          <a:prstGeom prst="roundRect">
            <a:avLst>
              <a:gd name="adj" fmla="val 7137"/>
            </a:avLst>
          </a:prstGeom>
          <a:solidFill>
            <a:srgbClr val="003180"/>
          </a:solidFill>
          <a:ln w="12700">
            <a:solidFill>
              <a:srgbClr val="194A99"/>
            </a:solidFill>
            <a:prstDash val="solid"/>
          </a:ln>
        </p:spPr>
      </p:sp>
      <p:sp>
        <p:nvSpPr>
          <p:cNvPr id="11" name="Text 8"/>
          <p:cNvSpPr/>
          <p:nvPr/>
        </p:nvSpPr>
        <p:spPr>
          <a:xfrm>
            <a:off x="938189" y="4711700"/>
            <a:ext cx="5743431" cy="321270"/>
          </a:xfrm>
          <a:prstGeom prst="rect">
            <a:avLst/>
          </a:prstGeom>
          <a:noFill/>
          <a:ln/>
        </p:spPr>
        <p:txBody>
          <a:bodyPr wrap="none" lIns="0" tIns="0" rIns="0" bIns="0" rtlCol="0" anchor="t"/>
          <a:lstStyle/>
          <a:p>
            <a:pPr marL="0" indent="0" algn="l">
              <a:lnSpc>
                <a:spcPct val="104000"/>
              </a:lnSpc>
              <a:buNone/>
            </a:pPr>
            <a:r>
              <a:rPr lang="en-US" sz="2000" dirty="0">
                <a:solidFill>
                  <a:srgbClr val="E2E6E9"/>
                </a:solidFill>
                <a:latin typeface="Merriweather" pitchFamily="34" charset="0"/>
                <a:ea typeface="Merriweather" pitchFamily="34" charset="-122"/>
                <a:cs typeface="Merriweather" pitchFamily="34" charset="-120"/>
              </a:rPr>
              <a:t>Load</a:t>
            </a:r>
            <a:endParaRPr lang="en-US" sz="2000" dirty="0"/>
          </a:p>
        </p:txBody>
      </p:sp>
      <p:sp>
        <p:nvSpPr>
          <p:cNvPr id="12" name="Text 9"/>
          <p:cNvSpPr/>
          <p:nvPr/>
        </p:nvSpPr>
        <p:spPr>
          <a:xfrm>
            <a:off x="938189" y="5156299"/>
            <a:ext cx="5743431" cy="329009"/>
          </a:xfrm>
          <a:prstGeom prst="rect">
            <a:avLst/>
          </a:prstGeom>
          <a:noFill/>
          <a:ln/>
        </p:spPr>
        <p:txBody>
          <a:bodyPr wrap="none" lIns="0" tIns="0" rIns="0" bIns="0" rtlCol="0" anchor="t"/>
          <a:lstStyle/>
          <a:p>
            <a:pPr marL="0" indent="0" algn="l">
              <a:lnSpc>
                <a:spcPct val="133000"/>
              </a:lnSpc>
              <a:buNone/>
            </a:pPr>
            <a:r>
              <a:rPr lang="en-US" sz="1600" dirty="0">
                <a:solidFill>
                  <a:srgbClr val="E2E6E9"/>
                </a:solidFill>
                <a:latin typeface="Merriweather" pitchFamily="34" charset="0"/>
                <a:ea typeface="Merriweather" pitchFamily="34" charset="-122"/>
                <a:cs typeface="Merriweather" pitchFamily="34" charset="-120"/>
              </a:rPr>
              <a:t>Parallel data input capability</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19814" y="565646"/>
            <a:ext cx="10752067" cy="321270"/>
          </a:xfrm>
          <a:prstGeom prst="rect">
            <a:avLst/>
          </a:prstGeom>
          <a:noFill/>
          <a:ln/>
        </p:spPr>
        <p:txBody>
          <a:bodyPr wrap="none" lIns="0" tIns="0" rIns="0" bIns="0" rtlCol="0" anchor="t"/>
          <a:lstStyle/>
          <a:p>
            <a:pPr marL="0" indent="0" algn="l">
              <a:lnSpc>
                <a:spcPct val="104000"/>
              </a:lnSpc>
              <a:buNone/>
            </a:pPr>
            <a:r>
              <a:rPr lang="en-US" sz="2000" dirty="0">
                <a:solidFill>
                  <a:srgbClr val="F5F0F0"/>
                </a:solidFill>
                <a:latin typeface="Merriweather" pitchFamily="34" charset="0"/>
                <a:ea typeface="Merriweather" pitchFamily="34" charset="-122"/>
                <a:cs typeface="Merriweather" pitchFamily="34" charset="-120"/>
              </a:rPr>
              <a:t>Core Architecture</a:t>
            </a:r>
            <a:endParaRPr lang="en-US" sz="2000" dirty="0"/>
          </a:p>
        </p:txBody>
      </p:sp>
      <p:pic>
        <p:nvPicPr>
          <p:cNvPr id="3" name="Image 0" descr="preencoded.png"/>
          <p:cNvPicPr>
            <a:picLocks noChangeAspect="1"/>
          </p:cNvPicPr>
          <p:nvPr/>
        </p:nvPicPr>
        <p:blipFill>
          <a:blip r:embed="rId3"/>
          <a:stretch>
            <a:fillRect/>
          </a:stretch>
        </p:blipFill>
        <p:spPr>
          <a:xfrm>
            <a:off x="228600" y="1160717"/>
            <a:ext cx="7658347" cy="4339791"/>
          </a:xfrm>
          <a:prstGeom prst="rect">
            <a:avLst/>
          </a:prstGeom>
        </p:spPr>
      </p:pic>
      <p:sp>
        <p:nvSpPr>
          <p:cNvPr id="4" name="Text 1"/>
          <p:cNvSpPr/>
          <p:nvPr/>
        </p:nvSpPr>
        <p:spPr>
          <a:xfrm>
            <a:off x="8107556" y="1204023"/>
            <a:ext cx="4209746" cy="123428"/>
          </a:xfrm>
          <a:prstGeom prst="rect">
            <a:avLst/>
          </a:prstGeom>
          <a:noFill/>
          <a:ln/>
        </p:spPr>
        <p:txBody>
          <a:bodyPr wrap="none" lIns="0" tIns="0" rIns="0" bIns="0" rtlCol="0" anchor="t"/>
          <a:lstStyle/>
          <a:p>
            <a:pPr marL="0" indent="0" algn="l">
              <a:lnSpc>
                <a:spcPct val="100000"/>
              </a:lnSpc>
              <a:buNone/>
            </a:pPr>
            <a:r>
              <a:rPr lang="en-US" sz="1000" b="1" dirty="0">
                <a:solidFill>
                  <a:srgbClr val="E2E6E9"/>
                </a:solidFill>
                <a:latin typeface="Merriweather Bold" pitchFamily="34" charset="0"/>
                <a:ea typeface="Merriweather Bold" pitchFamily="34" charset="-122"/>
                <a:cs typeface="Merriweather Bold" pitchFamily="34" charset="-120"/>
              </a:rPr>
              <a:t>4-bit register path</a:t>
            </a:r>
            <a:r>
              <a:rPr lang="en-US" sz="1000" dirty="0">
                <a:solidFill>
                  <a:srgbClr val="E2E6E9"/>
                </a:solidFill>
                <a:latin typeface="Merriweather" pitchFamily="34" charset="0"/>
                <a:ea typeface="Merriweather" pitchFamily="34" charset="-122"/>
                <a:cs typeface="Merriweather" pitchFamily="34" charset="-120"/>
              </a:rPr>
              <a:t> with one multiplexer feeding each flip-flop</a:t>
            </a:r>
            <a:r>
              <a:rPr lang="en-US" sz="800" dirty="0">
                <a:solidFill>
                  <a:srgbClr val="E2E6E9"/>
                </a:solidFill>
                <a:latin typeface="Merriweather" pitchFamily="34" charset="0"/>
                <a:ea typeface="Merriweather" pitchFamily="34" charset="-122"/>
                <a:cs typeface="Merriweather" pitchFamily="34" charset="-120"/>
              </a:rPr>
              <a:t>.</a:t>
            </a:r>
            <a:endParaRPr lang="en-US" sz="800" dirty="0"/>
          </a:p>
        </p:txBody>
      </p:sp>
      <p:sp>
        <p:nvSpPr>
          <p:cNvPr id="5" name="Text 2"/>
          <p:cNvSpPr/>
          <p:nvPr/>
        </p:nvSpPr>
        <p:spPr>
          <a:xfrm>
            <a:off x="8413662" y="1715932"/>
            <a:ext cx="6900988" cy="160734"/>
          </a:xfrm>
          <a:prstGeom prst="rect">
            <a:avLst/>
          </a:prstGeom>
          <a:noFill/>
          <a:ln/>
        </p:spPr>
        <p:txBody>
          <a:bodyPr wrap="none" lIns="0" tIns="0" rIns="0" bIns="0" rtlCol="0" anchor="t"/>
          <a:lstStyle/>
          <a:p>
            <a:pPr marL="0" indent="0" algn="l">
              <a:lnSpc>
                <a:spcPct val="104000"/>
              </a:lnSpc>
              <a:buNone/>
            </a:pPr>
            <a:r>
              <a:rPr lang="en-US" sz="1000" dirty="0">
                <a:solidFill>
                  <a:srgbClr val="F5F0F0"/>
                </a:solidFill>
                <a:latin typeface="Merriweather" pitchFamily="34" charset="0"/>
                <a:ea typeface="Merriweather" pitchFamily="34" charset="-122"/>
                <a:cs typeface="Merriweather" pitchFamily="34" charset="-120"/>
              </a:rPr>
              <a:t>Building Blocks</a:t>
            </a:r>
            <a:endParaRPr lang="en-US" sz="1000" dirty="0"/>
          </a:p>
        </p:txBody>
      </p:sp>
      <p:sp>
        <p:nvSpPr>
          <p:cNvPr id="6" name="Shape 3"/>
          <p:cNvSpPr/>
          <p:nvPr/>
        </p:nvSpPr>
        <p:spPr>
          <a:xfrm>
            <a:off x="8110489" y="1662587"/>
            <a:ext cx="231372" cy="231378"/>
          </a:xfrm>
          <a:prstGeom prst="roundRect">
            <a:avLst>
              <a:gd name="adj" fmla="val 18669"/>
            </a:avLst>
          </a:prstGeom>
          <a:solidFill>
            <a:srgbClr val="003180"/>
          </a:solidFill>
          <a:ln w="6350">
            <a:solidFill>
              <a:srgbClr val="194A99"/>
            </a:solidFill>
            <a:prstDash val="solid"/>
          </a:ln>
        </p:spPr>
      </p:sp>
      <p:sp>
        <p:nvSpPr>
          <p:cNvPr id="7" name="Text 4"/>
          <p:cNvSpPr/>
          <p:nvPr/>
        </p:nvSpPr>
        <p:spPr>
          <a:xfrm>
            <a:off x="8149084" y="1681885"/>
            <a:ext cx="154182" cy="192782"/>
          </a:xfrm>
          <a:prstGeom prst="rect">
            <a:avLst/>
          </a:prstGeom>
          <a:noFill/>
          <a:ln/>
        </p:spPr>
        <p:txBody>
          <a:bodyPr wrap="none" lIns="0" tIns="0" rIns="0" bIns="0" rtlCol="0" anchor="ctr"/>
          <a:lstStyle/>
          <a:p>
            <a:pPr marL="0" indent="0" algn="ctr">
              <a:lnSpc>
                <a:spcPct val="100000"/>
              </a:lnSpc>
              <a:buNone/>
            </a:pPr>
            <a:r>
              <a:rPr lang="en-US" sz="1200" dirty="0">
                <a:solidFill>
                  <a:srgbClr val="E2E6E9"/>
                </a:solidFill>
                <a:latin typeface="Merriweather" pitchFamily="34" charset="0"/>
                <a:ea typeface="Merriweather" pitchFamily="34" charset="-122"/>
                <a:cs typeface="Merriweather" pitchFamily="34" charset="-120"/>
              </a:rPr>
              <a:t>1</a:t>
            </a:r>
            <a:endParaRPr lang="en-US" sz="1200" dirty="0"/>
          </a:p>
        </p:txBody>
      </p:sp>
      <p:sp>
        <p:nvSpPr>
          <p:cNvPr id="8" name="Text 5"/>
          <p:cNvSpPr/>
          <p:nvPr/>
        </p:nvSpPr>
        <p:spPr>
          <a:xfrm>
            <a:off x="8407079" y="1918557"/>
            <a:ext cx="3135631" cy="160734"/>
          </a:xfrm>
          <a:prstGeom prst="rect">
            <a:avLst/>
          </a:prstGeom>
          <a:noFill/>
          <a:ln/>
        </p:spPr>
        <p:txBody>
          <a:bodyPr wrap="none" lIns="0" tIns="0" rIns="0" bIns="0" rtlCol="0" anchor="t"/>
          <a:lstStyle/>
          <a:p>
            <a:pPr marL="0" indent="0" algn="l">
              <a:lnSpc>
                <a:spcPct val="104000"/>
              </a:lnSpc>
              <a:buNone/>
            </a:pPr>
            <a:r>
              <a:rPr lang="en-US" sz="1000" dirty="0">
                <a:solidFill>
                  <a:srgbClr val="E2E6E9"/>
                </a:solidFill>
                <a:latin typeface="Merriweather" pitchFamily="34" charset="0"/>
                <a:ea typeface="Merriweather" pitchFamily="34" charset="-122"/>
                <a:cs typeface="Merriweather" pitchFamily="34" charset="-120"/>
              </a:rPr>
              <a:t>4 D Flip-Flops</a:t>
            </a:r>
            <a:endParaRPr lang="en-US" sz="1000" dirty="0"/>
          </a:p>
        </p:txBody>
      </p:sp>
      <p:sp>
        <p:nvSpPr>
          <p:cNvPr id="9" name="Text 6"/>
          <p:cNvSpPr/>
          <p:nvPr/>
        </p:nvSpPr>
        <p:spPr>
          <a:xfrm>
            <a:off x="8728525" y="2556294"/>
            <a:ext cx="3135631" cy="123428"/>
          </a:xfrm>
          <a:prstGeom prst="rect">
            <a:avLst/>
          </a:prstGeom>
          <a:noFill/>
          <a:ln/>
        </p:spPr>
        <p:txBody>
          <a:bodyPr wrap="none" lIns="0" tIns="0" rIns="0" bIns="0" rtlCol="0" anchor="t"/>
          <a:lstStyle/>
          <a:p>
            <a:pPr marL="0" indent="0" algn="l">
              <a:lnSpc>
                <a:spcPct val="100000"/>
              </a:lnSpc>
              <a:buNone/>
            </a:pPr>
            <a:r>
              <a:rPr lang="en-US" sz="800" dirty="0">
                <a:solidFill>
                  <a:srgbClr val="E2E6E9"/>
                </a:solidFill>
                <a:latin typeface="Merriweather" pitchFamily="34" charset="0"/>
                <a:ea typeface="Merriweather" pitchFamily="34" charset="-122"/>
                <a:cs typeface="Merriweather" pitchFamily="34" charset="-120"/>
              </a:rPr>
              <a:t>One per bit — store state</a:t>
            </a:r>
            <a:endParaRPr lang="en-US" sz="800" dirty="0"/>
          </a:p>
        </p:txBody>
      </p:sp>
      <p:sp>
        <p:nvSpPr>
          <p:cNvPr id="10" name="Shape 7"/>
          <p:cNvSpPr/>
          <p:nvPr/>
        </p:nvSpPr>
        <p:spPr>
          <a:xfrm>
            <a:off x="8380381" y="3532532"/>
            <a:ext cx="231372" cy="231378"/>
          </a:xfrm>
          <a:prstGeom prst="roundRect">
            <a:avLst>
              <a:gd name="adj" fmla="val 18669"/>
            </a:avLst>
          </a:prstGeom>
          <a:solidFill>
            <a:srgbClr val="003180"/>
          </a:solidFill>
          <a:ln w="6350">
            <a:solidFill>
              <a:srgbClr val="194A99"/>
            </a:solidFill>
            <a:prstDash val="solid"/>
          </a:ln>
        </p:spPr>
      </p:sp>
      <p:sp>
        <p:nvSpPr>
          <p:cNvPr id="11" name="Text 8"/>
          <p:cNvSpPr/>
          <p:nvPr/>
        </p:nvSpPr>
        <p:spPr>
          <a:xfrm>
            <a:off x="8407079" y="3560649"/>
            <a:ext cx="154182" cy="192782"/>
          </a:xfrm>
          <a:prstGeom prst="rect">
            <a:avLst/>
          </a:prstGeom>
          <a:noFill/>
          <a:ln/>
        </p:spPr>
        <p:txBody>
          <a:bodyPr wrap="none" lIns="0" tIns="0" rIns="0" bIns="0" rtlCol="0" anchor="ctr"/>
          <a:lstStyle/>
          <a:p>
            <a:pPr marL="0" indent="0" algn="ctr">
              <a:lnSpc>
                <a:spcPct val="100000"/>
              </a:lnSpc>
              <a:buNone/>
            </a:pPr>
            <a:r>
              <a:rPr lang="en-US" sz="1200" dirty="0">
                <a:solidFill>
                  <a:srgbClr val="E2E6E9"/>
                </a:solidFill>
                <a:latin typeface="Merriweather" pitchFamily="34" charset="0"/>
                <a:ea typeface="Merriweather" pitchFamily="34" charset="-122"/>
                <a:cs typeface="Merriweather" pitchFamily="34" charset="-120"/>
              </a:rPr>
              <a:t>2</a:t>
            </a:r>
            <a:endParaRPr lang="en-US" sz="1200" dirty="0"/>
          </a:p>
        </p:txBody>
      </p:sp>
      <p:sp>
        <p:nvSpPr>
          <p:cNvPr id="12" name="Text 9"/>
          <p:cNvSpPr/>
          <p:nvPr/>
        </p:nvSpPr>
        <p:spPr>
          <a:xfrm>
            <a:off x="8728524" y="3584449"/>
            <a:ext cx="3135631" cy="160734"/>
          </a:xfrm>
          <a:prstGeom prst="rect">
            <a:avLst/>
          </a:prstGeom>
          <a:noFill/>
          <a:ln/>
        </p:spPr>
        <p:txBody>
          <a:bodyPr wrap="none" lIns="0" tIns="0" rIns="0" bIns="0" rtlCol="0" anchor="t"/>
          <a:lstStyle/>
          <a:p>
            <a:pPr marL="0" indent="0" algn="l">
              <a:lnSpc>
                <a:spcPct val="104000"/>
              </a:lnSpc>
              <a:buNone/>
            </a:pPr>
            <a:r>
              <a:rPr lang="en-US" sz="1000" dirty="0">
                <a:solidFill>
                  <a:srgbClr val="E2E6E9"/>
                </a:solidFill>
                <a:latin typeface="Merriweather" pitchFamily="34" charset="0"/>
                <a:ea typeface="Merriweather" pitchFamily="34" charset="-122"/>
                <a:cs typeface="Merriweather" pitchFamily="34" charset="-120"/>
              </a:rPr>
              <a:t>4 × 4:1 MUX</a:t>
            </a:r>
            <a:endParaRPr lang="en-US" sz="1000" dirty="0"/>
          </a:p>
        </p:txBody>
      </p:sp>
      <p:sp>
        <p:nvSpPr>
          <p:cNvPr id="13" name="Text 10"/>
          <p:cNvSpPr/>
          <p:nvPr/>
        </p:nvSpPr>
        <p:spPr>
          <a:xfrm>
            <a:off x="8728525" y="3875256"/>
            <a:ext cx="3135631" cy="123428"/>
          </a:xfrm>
          <a:prstGeom prst="rect">
            <a:avLst/>
          </a:prstGeom>
          <a:noFill/>
          <a:ln/>
        </p:spPr>
        <p:txBody>
          <a:bodyPr wrap="none" lIns="0" tIns="0" rIns="0" bIns="0" rtlCol="0" anchor="t"/>
          <a:lstStyle/>
          <a:p>
            <a:pPr marL="0" indent="0" algn="l">
              <a:lnSpc>
                <a:spcPct val="100000"/>
              </a:lnSpc>
              <a:buNone/>
            </a:pPr>
            <a:r>
              <a:rPr lang="en-US" sz="800" dirty="0">
                <a:solidFill>
                  <a:srgbClr val="E2E6E9"/>
                </a:solidFill>
                <a:latin typeface="Merriweather" pitchFamily="34" charset="0"/>
                <a:ea typeface="Merriweather" pitchFamily="34" charset="-122"/>
                <a:cs typeface="Merriweather" pitchFamily="34" charset="-120"/>
              </a:rPr>
              <a:t>Select input per flip-flop</a:t>
            </a:r>
            <a:endParaRPr lang="en-US" sz="800" dirty="0"/>
          </a:p>
        </p:txBody>
      </p:sp>
      <p:sp>
        <p:nvSpPr>
          <p:cNvPr id="14" name="Shape 11"/>
          <p:cNvSpPr/>
          <p:nvPr/>
        </p:nvSpPr>
        <p:spPr>
          <a:xfrm>
            <a:off x="8368484" y="2860423"/>
            <a:ext cx="231372" cy="231378"/>
          </a:xfrm>
          <a:prstGeom prst="roundRect">
            <a:avLst>
              <a:gd name="adj" fmla="val 18669"/>
            </a:avLst>
          </a:prstGeom>
          <a:solidFill>
            <a:srgbClr val="003180"/>
          </a:solidFill>
          <a:ln w="6350">
            <a:solidFill>
              <a:srgbClr val="194A99"/>
            </a:solidFill>
            <a:prstDash val="solid"/>
          </a:ln>
        </p:spPr>
      </p:sp>
      <p:sp>
        <p:nvSpPr>
          <p:cNvPr id="15" name="Text 12"/>
          <p:cNvSpPr/>
          <p:nvPr/>
        </p:nvSpPr>
        <p:spPr>
          <a:xfrm>
            <a:off x="8457571" y="2870902"/>
            <a:ext cx="154182" cy="192782"/>
          </a:xfrm>
          <a:prstGeom prst="rect">
            <a:avLst/>
          </a:prstGeom>
          <a:noFill/>
          <a:ln/>
        </p:spPr>
        <p:txBody>
          <a:bodyPr wrap="none" lIns="0" tIns="0" rIns="0" bIns="0" rtlCol="0" anchor="ctr"/>
          <a:lstStyle/>
          <a:p>
            <a:pPr marL="0" indent="0" algn="ctr">
              <a:lnSpc>
                <a:spcPct val="100000"/>
              </a:lnSpc>
              <a:buNone/>
            </a:pPr>
            <a:r>
              <a:rPr lang="en-US" sz="1200" dirty="0">
                <a:solidFill>
                  <a:srgbClr val="E2E6E9"/>
                </a:solidFill>
                <a:latin typeface="Merriweather" pitchFamily="34" charset="0"/>
                <a:ea typeface="Merriweather" pitchFamily="34" charset="-122"/>
                <a:cs typeface="Merriweather" pitchFamily="34" charset="-120"/>
              </a:rPr>
              <a:t>3</a:t>
            </a:r>
            <a:endParaRPr lang="en-US" sz="1200" dirty="0"/>
          </a:p>
        </p:txBody>
      </p:sp>
      <p:sp>
        <p:nvSpPr>
          <p:cNvPr id="16" name="Text 13"/>
          <p:cNvSpPr/>
          <p:nvPr/>
        </p:nvSpPr>
        <p:spPr>
          <a:xfrm>
            <a:off x="8654289" y="2914902"/>
            <a:ext cx="6618221" cy="160734"/>
          </a:xfrm>
          <a:prstGeom prst="rect">
            <a:avLst/>
          </a:prstGeom>
          <a:noFill/>
          <a:ln/>
        </p:spPr>
        <p:txBody>
          <a:bodyPr wrap="none" lIns="0" tIns="0" rIns="0" bIns="0" rtlCol="0" anchor="t"/>
          <a:lstStyle/>
          <a:p>
            <a:pPr marL="0" indent="0" algn="l">
              <a:lnSpc>
                <a:spcPct val="104000"/>
              </a:lnSpc>
              <a:buNone/>
            </a:pPr>
            <a:r>
              <a:rPr lang="en-US" sz="1000" dirty="0">
                <a:solidFill>
                  <a:srgbClr val="E2E6E9"/>
                </a:solidFill>
                <a:latin typeface="Merriweather" pitchFamily="34" charset="0"/>
                <a:ea typeface="Merriweather" pitchFamily="34" charset="-122"/>
                <a:cs typeface="Merriweather" pitchFamily="34" charset="-120"/>
              </a:rPr>
              <a:t>Shared S1, S0</a:t>
            </a:r>
            <a:endParaRPr lang="en-US" sz="1000" dirty="0"/>
          </a:p>
        </p:txBody>
      </p:sp>
      <p:sp>
        <p:nvSpPr>
          <p:cNvPr id="17" name="Text 14"/>
          <p:cNvSpPr/>
          <p:nvPr/>
        </p:nvSpPr>
        <p:spPr>
          <a:xfrm>
            <a:off x="8654289" y="3045104"/>
            <a:ext cx="6618221" cy="123428"/>
          </a:xfrm>
          <a:prstGeom prst="rect">
            <a:avLst/>
          </a:prstGeom>
          <a:noFill/>
          <a:ln/>
        </p:spPr>
        <p:txBody>
          <a:bodyPr wrap="none" lIns="0" tIns="0" rIns="0" bIns="0" rtlCol="0" anchor="t"/>
          <a:lstStyle/>
          <a:p>
            <a:pPr marL="0" indent="0" algn="l">
              <a:lnSpc>
                <a:spcPct val="100000"/>
              </a:lnSpc>
              <a:buNone/>
            </a:pPr>
            <a:r>
              <a:rPr lang="en-US" sz="800" dirty="0">
                <a:solidFill>
                  <a:srgbClr val="E2E6E9"/>
                </a:solidFill>
                <a:latin typeface="Merriweather" pitchFamily="34" charset="0"/>
                <a:ea typeface="Merriweather" pitchFamily="34" charset="-122"/>
                <a:cs typeface="Merriweather" pitchFamily="34" charset="-120"/>
              </a:rPr>
              <a:t>Common select lines control all MUXes</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19814" y="617240"/>
            <a:ext cx="10752067" cy="532309"/>
          </a:xfrm>
          <a:prstGeom prst="rect">
            <a:avLst/>
          </a:prstGeom>
          <a:noFill/>
          <a:ln/>
        </p:spPr>
        <p:txBody>
          <a:bodyPr wrap="none" lIns="0" tIns="0" rIns="0" bIns="0" rtlCol="0" anchor="t"/>
          <a:lstStyle/>
          <a:p>
            <a:pPr marL="0" indent="0" algn="l">
              <a:lnSpc>
                <a:spcPct val="104000"/>
              </a:lnSpc>
              <a:buNone/>
            </a:pPr>
            <a:r>
              <a:rPr lang="en-US" sz="3350" dirty="0">
                <a:solidFill>
                  <a:srgbClr val="F5F0F0"/>
                </a:solidFill>
                <a:latin typeface="Merriweather" pitchFamily="34" charset="0"/>
                <a:ea typeface="Merriweather" pitchFamily="34" charset="-122"/>
                <a:cs typeface="Merriweather" pitchFamily="34" charset="-120"/>
              </a:rPr>
              <a:t>Multiplexer Input Connections</a:t>
            </a:r>
            <a:endParaRPr lang="en-US" sz="3350" dirty="0"/>
          </a:p>
        </p:txBody>
      </p:sp>
      <p:pic>
        <p:nvPicPr>
          <p:cNvPr id="3" name="Image 0" descr="preencoded.png"/>
          <p:cNvPicPr>
            <a:picLocks noChangeAspect="1"/>
          </p:cNvPicPr>
          <p:nvPr/>
        </p:nvPicPr>
        <p:blipFill>
          <a:blip r:embed="rId3"/>
          <a:stretch>
            <a:fillRect/>
          </a:stretch>
        </p:blipFill>
        <p:spPr>
          <a:xfrm>
            <a:off x="719814" y="1663402"/>
            <a:ext cx="4274832" cy="4274939"/>
          </a:xfrm>
          <a:prstGeom prst="rect">
            <a:avLst/>
          </a:prstGeom>
        </p:spPr>
      </p:pic>
      <p:pic>
        <p:nvPicPr>
          <p:cNvPr id="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416514" y="1519734"/>
            <a:ext cx="6061618" cy="1034852"/>
          </a:xfrm>
          <a:prstGeom prst="rect">
            <a:avLst/>
          </a:prstGeom>
        </p:spPr>
      </p:pic>
      <p:sp>
        <p:nvSpPr>
          <p:cNvPr id="5" name="Text 1"/>
          <p:cNvSpPr/>
          <p:nvPr/>
        </p:nvSpPr>
        <p:spPr>
          <a:xfrm>
            <a:off x="5645306" y="1877417"/>
            <a:ext cx="255482" cy="319385"/>
          </a:xfrm>
          <a:prstGeom prst="rect">
            <a:avLst/>
          </a:prstGeom>
          <a:noFill/>
          <a:ln/>
        </p:spPr>
        <p:txBody>
          <a:bodyPr wrap="none" lIns="0" tIns="0" rIns="0" bIns="0" rtlCol="0" anchor="ctr"/>
          <a:lstStyle/>
          <a:p>
            <a:pPr marL="0" indent="0" algn="ctr">
              <a:lnSpc>
                <a:spcPct val="100000"/>
              </a:lnSpc>
              <a:buNone/>
            </a:pPr>
            <a:r>
              <a:rPr lang="en-US" sz="2000" dirty="0">
                <a:solidFill>
                  <a:srgbClr val="E2E6E9"/>
                </a:solidFill>
                <a:latin typeface="Merriweather" pitchFamily="34" charset="0"/>
                <a:ea typeface="Merriweather" pitchFamily="34" charset="-122"/>
                <a:cs typeface="Merriweather" pitchFamily="34" charset="-120"/>
              </a:rPr>
              <a:t>1</a:t>
            </a:r>
            <a:endParaRPr lang="en-US" sz="2000" dirty="0"/>
          </a:p>
        </p:txBody>
      </p:sp>
      <p:sp>
        <p:nvSpPr>
          <p:cNvPr id="6" name="Text 2"/>
          <p:cNvSpPr/>
          <p:nvPr/>
        </p:nvSpPr>
        <p:spPr>
          <a:xfrm>
            <a:off x="6257868" y="1709043"/>
            <a:ext cx="5030959" cy="266105"/>
          </a:xfrm>
          <a:prstGeom prst="rect">
            <a:avLst/>
          </a:prstGeom>
          <a:noFill/>
          <a:ln/>
        </p:spPr>
        <p:txBody>
          <a:bodyPr wrap="none" lIns="0" tIns="0" rIns="0" bIns="0" rtlCol="0" anchor="t"/>
          <a:lstStyle/>
          <a:p>
            <a:pPr marL="0" indent="0" algn="l">
              <a:lnSpc>
                <a:spcPct val="104000"/>
              </a:lnSpc>
              <a:buNone/>
            </a:pPr>
            <a:r>
              <a:rPr lang="en-US" sz="1650" dirty="0">
                <a:solidFill>
                  <a:srgbClr val="E2E6E9"/>
                </a:solidFill>
                <a:latin typeface="Merriweather" pitchFamily="34" charset="0"/>
                <a:ea typeface="Merriweather" pitchFamily="34" charset="-122"/>
                <a:cs typeface="Merriweather" pitchFamily="34" charset="-120"/>
              </a:rPr>
              <a:t>Input 0</a:t>
            </a:r>
            <a:endParaRPr lang="en-US" sz="1650" dirty="0"/>
          </a:p>
        </p:txBody>
      </p:sp>
      <p:sp>
        <p:nvSpPr>
          <p:cNvPr id="7" name="Text 3"/>
          <p:cNvSpPr/>
          <p:nvPr/>
        </p:nvSpPr>
        <p:spPr>
          <a:xfrm>
            <a:off x="6257868" y="2116138"/>
            <a:ext cx="5030959" cy="249138"/>
          </a:xfrm>
          <a:prstGeom prst="rect">
            <a:avLst/>
          </a:prstGeom>
          <a:noFill/>
          <a:ln/>
        </p:spPr>
        <p:txBody>
          <a:bodyPr wrap="none" lIns="0" tIns="0" rIns="0" bIns="0" rtlCol="0" anchor="t"/>
          <a:lstStyle/>
          <a:p>
            <a:pPr marL="0" indent="0" algn="l">
              <a:lnSpc>
                <a:spcPct val="122000"/>
              </a:lnSpc>
              <a:buNone/>
            </a:pPr>
            <a:r>
              <a:rPr lang="en-US" sz="1300" dirty="0">
                <a:solidFill>
                  <a:srgbClr val="E2E6E9"/>
                </a:solidFill>
                <a:latin typeface="Merriweather" pitchFamily="34" charset="0"/>
                <a:ea typeface="Merriweather" pitchFamily="34" charset="-122"/>
                <a:cs typeface="Merriweather" pitchFamily="34" charset="-120"/>
              </a:rPr>
              <a:t>Feedback — </a:t>
            </a:r>
            <a:r>
              <a:rPr lang="en-US" sz="1300" dirty="0">
                <a:solidFill>
                  <a:srgbClr val="609DFF"/>
                </a:solidFill>
                <a:latin typeface="Merriweather" pitchFamily="34" charset="0"/>
                <a:ea typeface="Merriweather" pitchFamily="34" charset="-122"/>
                <a:cs typeface="Merriweather" pitchFamily="34" charset="-120"/>
              </a:rPr>
              <a:t>hold data</a:t>
            </a:r>
            <a:endParaRPr lang="en-US" sz="1300" dirty="0"/>
          </a:p>
        </p:txBody>
      </p:sp>
      <p:pic>
        <p:nvPicPr>
          <p:cNvPr id="8"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416514" y="2695575"/>
            <a:ext cx="6061618" cy="1034852"/>
          </a:xfrm>
          <a:prstGeom prst="rect">
            <a:avLst/>
          </a:prstGeom>
        </p:spPr>
      </p:pic>
      <p:sp>
        <p:nvSpPr>
          <p:cNvPr id="9" name="Text 4"/>
          <p:cNvSpPr/>
          <p:nvPr/>
        </p:nvSpPr>
        <p:spPr>
          <a:xfrm>
            <a:off x="5645306" y="3053259"/>
            <a:ext cx="255482" cy="319385"/>
          </a:xfrm>
          <a:prstGeom prst="rect">
            <a:avLst/>
          </a:prstGeom>
          <a:noFill/>
          <a:ln/>
        </p:spPr>
        <p:txBody>
          <a:bodyPr wrap="none" lIns="0" tIns="0" rIns="0" bIns="0" rtlCol="0" anchor="ctr"/>
          <a:lstStyle/>
          <a:p>
            <a:pPr marL="0" indent="0" algn="ctr">
              <a:lnSpc>
                <a:spcPct val="100000"/>
              </a:lnSpc>
              <a:buNone/>
            </a:pPr>
            <a:r>
              <a:rPr lang="en-US" sz="2000" dirty="0">
                <a:solidFill>
                  <a:srgbClr val="E2E6E9"/>
                </a:solidFill>
                <a:latin typeface="Merriweather" pitchFamily="34" charset="0"/>
                <a:ea typeface="Merriweather" pitchFamily="34" charset="-122"/>
                <a:cs typeface="Merriweather" pitchFamily="34" charset="-120"/>
              </a:rPr>
              <a:t>2</a:t>
            </a:r>
            <a:endParaRPr lang="en-US" sz="2000" dirty="0"/>
          </a:p>
        </p:txBody>
      </p:sp>
      <p:sp>
        <p:nvSpPr>
          <p:cNvPr id="10" name="Text 5"/>
          <p:cNvSpPr/>
          <p:nvPr/>
        </p:nvSpPr>
        <p:spPr>
          <a:xfrm>
            <a:off x="6257868" y="2884884"/>
            <a:ext cx="5030959" cy="266105"/>
          </a:xfrm>
          <a:prstGeom prst="rect">
            <a:avLst/>
          </a:prstGeom>
          <a:noFill/>
          <a:ln/>
        </p:spPr>
        <p:txBody>
          <a:bodyPr wrap="none" lIns="0" tIns="0" rIns="0" bIns="0" rtlCol="0" anchor="t"/>
          <a:lstStyle/>
          <a:p>
            <a:pPr marL="0" indent="0" algn="l">
              <a:lnSpc>
                <a:spcPct val="104000"/>
              </a:lnSpc>
              <a:buNone/>
            </a:pPr>
            <a:r>
              <a:rPr lang="en-US" sz="1650" dirty="0">
                <a:solidFill>
                  <a:srgbClr val="E2E6E9"/>
                </a:solidFill>
                <a:latin typeface="Merriweather" pitchFamily="34" charset="0"/>
                <a:ea typeface="Merriweather" pitchFamily="34" charset="-122"/>
                <a:cs typeface="Merriweather" pitchFamily="34" charset="-120"/>
              </a:rPr>
              <a:t>Input 1</a:t>
            </a:r>
            <a:endParaRPr lang="en-US" sz="1650" dirty="0"/>
          </a:p>
        </p:txBody>
      </p:sp>
      <p:sp>
        <p:nvSpPr>
          <p:cNvPr id="11" name="Text 6"/>
          <p:cNvSpPr/>
          <p:nvPr/>
        </p:nvSpPr>
        <p:spPr>
          <a:xfrm>
            <a:off x="6257868" y="3291979"/>
            <a:ext cx="5030959" cy="249138"/>
          </a:xfrm>
          <a:prstGeom prst="rect">
            <a:avLst/>
          </a:prstGeom>
          <a:noFill/>
          <a:ln/>
        </p:spPr>
        <p:txBody>
          <a:bodyPr wrap="none" lIns="0" tIns="0" rIns="0" bIns="0" rtlCol="0" anchor="t"/>
          <a:lstStyle/>
          <a:p>
            <a:pPr marL="0" indent="0" algn="l">
              <a:lnSpc>
                <a:spcPct val="122000"/>
              </a:lnSpc>
              <a:buNone/>
            </a:pPr>
            <a:r>
              <a:rPr lang="en-US" sz="1300" dirty="0">
                <a:solidFill>
                  <a:srgbClr val="E2E6E9"/>
                </a:solidFill>
                <a:latin typeface="Merriweather" pitchFamily="34" charset="0"/>
                <a:ea typeface="Merriweather" pitchFamily="34" charset="-122"/>
                <a:cs typeface="Merriweather" pitchFamily="34" charset="-120"/>
              </a:rPr>
              <a:t>Previous flip-flop — </a:t>
            </a:r>
            <a:r>
              <a:rPr lang="en-US" sz="1300" dirty="0">
                <a:solidFill>
                  <a:srgbClr val="609DFF"/>
                </a:solidFill>
                <a:latin typeface="Merriweather" pitchFamily="34" charset="0"/>
                <a:ea typeface="Merriweather" pitchFamily="34" charset="-122"/>
                <a:cs typeface="Merriweather" pitchFamily="34" charset="-120"/>
              </a:rPr>
              <a:t>right shift</a:t>
            </a:r>
            <a:endParaRPr lang="en-US" sz="130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416514" y="3871416"/>
            <a:ext cx="6061618" cy="1034852"/>
          </a:xfrm>
          <a:prstGeom prst="rect">
            <a:avLst/>
          </a:prstGeom>
        </p:spPr>
      </p:pic>
      <p:sp>
        <p:nvSpPr>
          <p:cNvPr id="13" name="Text 7"/>
          <p:cNvSpPr/>
          <p:nvPr/>
        </p:nvSpPr>
        <p:spPr>
          <a:xfrm>
            <a:off x="5645306" y="4229100"/>
            <a:ext cx="255482" cy="319385"/>
          </a:xfrm>
          <a:prstGeom prst="rect">
            <a:avLst/>
          </a:prstGeom>
          <a:noFill/>
          <a:ln/>
        </p:spPr>
        <p:txBody>
          <a:bodyPr wrap="none" lIns="0" tIns="0" rIns="0" bIns="0" rtlCol="0" anchor="ctr"/>
          <a:lstStyle/>
          <a:p>
            <a:pPr marL="0" indent="0" algn="ctr">
              <a:lnSpc>
                <a:spcPct val="100000"/>
              </a:lnSpc>
              <a:buNone/>
            </a:pPr>
            <a:r>
              <a:rPr lang="en-US" sz="2000" dirty="0">
                <a:solidFill>
                  <a:srgbClr val="E2E6E9"/>
                </a:solidFill>
                <a:latin typeface="Merriweather" pitchFamily="34" charset="0"/>
                <a:ea typeface="Merriweather" pitchFamily="34" charset="-122"/>
                <a:cs typeface="Merriweather" pitchFamily="34" charset="-120"/>
              </a:rPr>
              <a:t>3</a:t>
            </a:r>
            <a:endParaRPr lang="en-US" sz="2000" dirty="0"/>
          </a:p>
        </p:txBody>
      </p:sp>
      <p:sp>
        <p:nvSpPr>
          <p:cNvPr id="14" name="Text 8"/>
          <p:cNvSpPr/>
          <p:nvPr/>
        </p:nvSpPr>
        <p:spPr>
          <a:xfrm>
            <a:off x="6257868" y="4060726"/>
            <a:ext cx="5030959" cy="266105"/>
          </a:xfrm>
          <a:prstGeom prst="rect">
            <a:avLst/>
          </a:prstGeom>
          <a:noFill/>
          <a:ln/>
        </p:spPr>
        <p:txBody>
          <a:bodyPr wrap="none" lIns="0" tIns="0" rIns="0" bIns="0" rtlCol="0" anchor="t"/>
          <a:lstStyle/>
          <a:p>
            <a:pPr marL="0" indent="0" algn="l">
              <a:lnSpc>
                <a:spcPct val="104000"/>
              </a:lnSpc>
              <a:buNone/>
            </a:pPr>
            <a:r>
              <a:rPr lang="en-US" sz="1650" dirty="0">
                <a:solidFill>
                  <a:srgbClr val="E2E6E9"/>
                </a:solidFill>
                <a:latin typeface="Merriweather" pitchFamily="34" charset="0"/>
                <a:ea typeface="Merriweather" pitchFamily="34" charset="-122"/>
                <a:cs typeface="Merriweather" pitchFamily="34" charset="-120"/>
              </a:rPr>
              <a:t>Input 2</a:t>
            </a:r>
            <a:endParaRPr lang="en-US" sz="1650" dirty="0"/>
          </a:p>
        </p:txBody>
      </p:sp>
      <p:sp>
        <p:nvSpPr>
          <p:cNvPr id="15" name="Text 9"/>
          <p:cNvSpPr/>
          <p:nvPr/>
        </p:nvSpPr>
        <p:spPr>
          <a:xfrm>
            <a:off x="6257868" y="4467820"/>
            <a:ext cx="5030959" cy="249138"/>
          </a:xfrm>
          <a:prstGeom prst="rect">
            <a:avLst/>
          </a:prstGeom>
          <a:noFill/>
          <a:ln/>
        </p:spPr>
        <p:txBody>
          <a:bodyPr wrap="none" lIns="0" tIns="0" rIns="0" bIns="0" rtlCol="0" anchor="t"/>
          <a:lstStyle/>
          <a:p>
            <a:pPr marL="0" indent="0" algn="l">
              <a:lnSpc>
                <a:spcPct val="122000"/>
              </a:lnSpc>
              <a:buNone/>
            </a:pPr>
            <a:r>
              <a:rPr lang="en-US" sz="1300" dirty="0">
                <a:solidFill>
                  <a:srgbClr val="E2E6E9"/>
                </a:solidFill>
                <a:latin typeface="Merriweather" pitchFamily="34" charset="0"/>
                <a:ea typeface="Merriweather" pitchFamily="34" charset="-122"/>
                <a:cs typeface="Merriweather" pitchFamily="34" charset="-120"/>
              </a:rPr>
              <a:t>Next flip-flop — </a:t>
            </a:r>
            <a:r>
              <a:rPr lang="en-US" sz="1300" dirty="0">
                <a:solidFill>
                  <a:srgbClr val="609DFF"/>
                </a:solidFill>
                <a:latin typeface="Merriweather" pitchFamily="34" charset="0"/>
                <a:ea typeface="Merriweather" pitchFamily="34" charset="-122"/>
                <a:cs typeface="Merriweather" pitchFamily="34" charset="-120"/>
              </a:rPr>
              <a:t>left shift</a:t>
            </a:r>
            <a:endParaRPr lang="en-US" sz="1300" dirty="0"/>
          </a:p>
        </p:txBody>
      </p:sp>
      <p:pic>
        <p:nvPicPr>
          <p:cNvPr id="16"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416514" y="5047258"/>
            <a:ext cx="6061618" cy="1034852"/>
          </a:xfrm>
          <a:prstGeom prst="rect">
            <a:avLst/>
          </a:prstGeom>
        </p:spPr>
      </p:pic>
      <p:sp>
        <p:nvSpPr>
          <p:cNvPr id="17" name="Text 10"/>
          <p:cNvSpPr/>
          <p:nvPr/>
        </p:nvSpPr>
        <p:spPr>
          <a:xfrm>
            <a:off x="5645306" y="5404941"/>
            <a:ext cx="255482" cy="319385"/>
          </a:xfrm>
          <a:prstGeom prst="rect">
            <a:avLst/>
          </a:prstGeom>
          <a:noFill/>
          <a:ln/>
        </p:spPr>
        <p:txBody>
          <a:bodyPr wrap="none" lIns="0" tIns="0" rIns="0" bIns="0" rtlCol="0" anchor="ctr"/>
          <a:lstStyle/>
          <a:p>
            <a:pPr marL="0" indent="0" algn="ctr">
              <a:lnSpc>
                <a:spcPct val="100000"/>
              </a:lnSpc>
              <a:buNone/>
            </a:pPr>
            <a:r>
              <a:rPr lang="en-US" sz="2000" dirty="0">
                <a:solidFill>
                  <a:srgbClr val="E2E6E9"/>
                </a:solidFill>
                <a:latin typeface="Merriweather" pitchFamily="34" charset="0"/>
                <a:ea typeface="Merriweather" pitchFamily="34" charset="-122"/>
                <a:cs typeface="Merriweather" pitchFamily="34" charset="-120"/>
              </a:rPr>
              <a:t>4</a:t>
            </a:r>
            <a:endParaRPr lang="en-US" sz="2000" dirty="0"/>
          </a:p>
        </p:txBody>
      </p:sp>
      <p:sp>
        <p:nvSpPr>
          <p:cNvPr id="18" name="Text 11"/>
          <p:cNvSpPr/>
          <p:nvPr/>
        </p:nvSpPr>
        <p:spPr>
          <a:xfrm>
            <a:off x="6257868" y="5236567"/>
            <a:ext cx="5030959" cy="266105"/>
          </a:xfrm>
          <a:prstGeom prst="rect">
            <a:avLst/>
          </a:prstGeom>
          <a:noFill/>
          <a:ln/>
        </p:spPr>
        <p:txBody>
          <a:bodyPr wrap="none" lIns="0" tIns="0" rIns="0" bIns="0" rtlCol="0" anchor="t"/>
          <a:lstStyle/>
          <a:p>
            <a:pPr marL="0" indent="0" algn="l">
              <a:lnSpc>
                <a:spcPct val="104000"/>
              </a:lnSpc>
              <a:buNone/>
            </a:pPr>
            <a:r>
              <a:rPr lang="en-US" sz="1650" dirty="0">
                <a:solidFill>
                  <a:srgbClr val="E2E6E9"/>
                </a:solidFill>
                <a:latin typeface="Merriweather" pitchFamily="34" charset="0"/>
                <a:ea typeface="Merriweather" pitchFamily="34" charset="-122"/>
                <a:cs typeface="Merriweather" pitchFamily="34" charset="-120"/>
              </a:rPr>
              <a:t>Input 3</a:t>
            </a:r>
            <a:endParaRPr lang="en-US" sz="1650" dirty="0"/>
          </a:p>
        </p:txBody>
      </p:sp>
      <p:sp>
        <p:nvSpPr>
          <p:cNvPr id="19" name="Text 12"/>
          <p:cNvSpPr/>
          <p:nvPr/>
        </p:nvSpPr>
        <p:spPr>
          <a:xfrm>
            <a:off x="6257868" y="5643662"/>
            <a:ext cx="5030959" cy="249138"/>
          </a:xfrm>
          <a:prstGeom prst="rect">
            <a:avLst/>
          </a:prstGeom>
          <a:noFill/>
          <a:ln/>
        </p:spPr>
        <p:txBody>
          <a:bodyPr wrap="none" lIns="0" tIns="0" rIns="0" bIns="0" rtlCol="0" anchor="t"/>
          <a:lstStyle/>
          <a:p>
            <a:pPr marL="0" indent="0" algn="l">
              <a:lnSpc>
                <a:spcPct val="122000"/>
              </a:lnSpc>
              <a:buNone/>
            </a:pPr>
            <a:r>
              <a:rPr lang="en-US" sz="1300" dirty="0">
                <a:solidFill>
                  <a:srgbClr val="E2E6E9"/>
                </a:solidFill>
                <a:latin typeface="Merriweather" pitchFamily="34" charset="0"/>
                <a:ea typeface="Merriweather" pitchFamily="34" charset="-122"/>
                <a:cs typeface="Merriweather" pitchFamily="34" charset="-120"/>
              </a:rPr>
              <a:t>External — </a:t>
            </a:r>
            <a:r>
              <a:rPr lang="en-US" sz="1300" dirty="0">
                <a:solidFill>
                  <a:srgbClr val="609DFF"/>
                </a:solidFill>
                <a:latin typeface="Merriweather" pitchFamily="34" charset="0"/>
                <a:ea typeface="Merriweather" pitchFamily="34" charset="-122"/>
                <a:cs typeface="Merriweather" pitchFamily="34" charset="-120"/>
              </a:rPr>
              <a:t>parallel load</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19814" y="627261"/>
            <a:ext cx="10752067" cy="542330"/>
          </a:xfrm>
          <a:prstGeom prst="rect">
            <a:avLst/>
          </a:prstGeom>
          <a:noFill/>
          <a:ln/>
        </p:spPr>
        <p:txBody>
          <a:bodyPr wrap="none" lIns="0" tIns="0" rIns="0" bIns="0" rtlCol="0" anchor="t"/>
          <a:lstStyle/>
          <a:p>
            <a:pPr marL="0" indent="0" algn="l">
              <a:lnSpc>
                <a:spcPct val="104000"/>
              </a:lnSpc>
              <a:buNone/>
            </a:pPr>
            <a:r>
              <a:rPr lang="en-US" sz="3400" dirty="0">
                <a:solidFill>
                  <a:srgbClr val="F5F0F0"/>
                </a:solidFill>
                <a:latin typeface="Merriweather" pitchFamily="34" charset="0"/>
                <a:ea typeface="Merriweather" pitchFamily="34" charset="-122"/>
                <a:cs typeface="Merriweather" pitchFamily="34" charset="-120"/>
              </a:rPr>
              <a:t>Operating Modes</a:t>
            </a:r>
            <a:endParaRPr lang="en-US" sz="3400" dirty="0"/>
          </a:p>
        </p:txBody>
      </p:sp>
      <p:pic>
        <p:nvPicPr>
          <p:cNvPr id="3" name="Image 0" descr="preencoded.png"/>
          <p:cNvPicPr>
            <a:picLocks noChangeAspect="1"/>
          </p:cNvPicPr>
          <p:nvPr/>
        </p:nvPicPr>
        <p:blipFill>
          <a:blip r:embed="rId3"/>
          <a:stretch>
            <a:fillRect/>
          </a:stretch>
        </p:blipFill>
        <p:spPr>
          <a:xfrm>
            <a:off x="719814" y="2097980"/>
            <a:ext cx="6840565" cy="3423741"/>
          </a:xfrm>
          <a:prstGeom prst="rect">
            <a:avLst/>
          </a:prstGeom>
        </p:spPr>
      </p:pic>
      <p:sp>
        <p:nvSpPr>
          <p:cNvPr id="4" name="Text 1"/>
          <p:cNvSpPr/>
          <p:nvPr/>
        </p:nvSpPr>
        <p:spPr>
          <a:xfrm>
            <a:off x="750609" y="3665914"/>
            <a:ext cx="1284725" cy="192201"/>
          </a:xfrm>
          <a:prstGeom prst="rect">
            <a:avLst/>
          </a:prstGeom>
          <a:noFill/>
          <a:ln/>
        </p:spPr>
        <p:txBody>
          <a:bodyPr wrap="none" lIns="0" tIns="0" rIns="0" bIns="0" rtlCol="0" anchor="t"/>
          <a:lstStyle/>
          <a:p>
            <a:pPr marL="0" indent="0" algn="ctr">
              <a:lnSpc>
                <a:spcPct val="104000"/>
              </a:lnSpc>
              <a:buNone/>
            </a:pPr>
            <a:r>
              <a:rPr lang="en-US" sz="1200" dirty="0">
                <a:solidFill>
                  <a:srgbClr val="E2E6E9"/>
                </a:solidFill>
                <a:latin typeface="Merriweather" pitchFamily="34" charset="0"/>
                <a:ea typeface="Merriweather" pitchFamily="34" charset="-122"/>
                <a:cs typeface="Merriweather" pitchFamily="34" charset="-120"/>
              </a:rPr>
              <a:t>Left (S0=0)</a:t>
            </a:r>
            <a:endParaRPr lang="en-US" sz="1200" dirty="0"/>
          </a:p>
        </p:txBody>
      </p:sp>
      <p:sp>
        <p:nvSpPr>
          <p:cNvPr id="5" name="Text 2"/>
          <p:cNvSpPr/>
          <p:nvPr/>
        </p:nvSpPr>
        <p:spPr>
          <a:xfrm>
            <a:off x="3372806" y="5230217"/>
            <a:ext cx="1537570" cy="192201"/>
          </a:xfrm>
          <a:prstGeom prst="rect">
            <a:avLst/>
          </a:prstGeom>
          <a:noFill/>
          <a:ln/>
        </p:spPr>
        <p:txBody>
          <a:bodyPr wrap="none" lIns="0" tIns="0" rIns="0" bIns="0" rtlCol="0" anchor="t"/>
          <a:lstStyle/>
          <a:p>
            <a:pPr marL="0" indent="0" algn="ctr">
              <a:lnSpc>
                <a:spcPct val="104000"/>
              </a:lnSpc>
              <a:buNone/>
            </a:pPr>
            <a:r>
              <a:rPr lang="en-US" sz="1200" dirty="0">
                <a:solidFill>
                  <a:srgbClr val="E2E6E9"/>
                </a:solidFill>
                <a:latin typeface="Merriweather" pitchFamily="34" charset="0"/>
                <a:ea typeface="Merriweather" pitchFamily="34" charset="-122"/>
                <a:cs typeface="Merriweather" pitchFamily="34" charset="-120"/>
              </a:rPr>
              <a:t>Low (S1=0)</a:t>
            </a:r>
            <a:endParaRPr lang="en-US" sz="1200" dirty="0"/>
          </a:p>
        </p:txBody>
      </p:sp>
      <p:sp>
        <p:nvSpPr>
          <p:cNvPr id="6" name="Text 3"/>
          <p:cNvSpPr/>
          <p:nvPr/>
        </p:nvSpPr>
        <p:spPr>
          <a:xfrm>
            <a:off x="6238025" y="3665914"/>
            <a:ext cx="1284725" cy="192201"/>
          </a:xfrm>
          <a:prstGeom prst="rect">
            <a:avLst/>
          </a:prstGeom>
          <a:noFill/>
          <a:ln/>
        </p:spPr>
        <p:txBody>
          <a:bodyPr wrap="none" lIns="0" tIns="0" rIns="0" bIns="0" rtlCol="0" anchor="t"/>
          <a:lstStyle/>
          <a:p>
            <a:pPr marL="0" indent="0" algn="ctr">
              <a:lnSpc>
                <a:spcPct val="104000"/>
              </a:lnSpc>
              <a:buNone/>
            </a:pPr>
            <a:r>
              <a:rPr lang="en-US" sz="1200" dirty="0">
                <a:solidFill>
                  <a:srgbClr val="E2E6E9"/>
                </a:solidFill>
                <a:latin typeface="Merriweather" pitchFamily="34" charset="0"/>
                <a:ea typeface="Merriweather" pitchFamily="34" charset="-122"/>
                <a:cs typeface="Merriweather" pitchFamily="34" charset="-120"/>
              </a:rPr>
              <a:t>Right (S0=1)</a:t>
            </a:r>
            <a:endParaRPr lang="en-US" sz="1200" dirty="0"/>
          </a:p>
        </p:txBody>
      </p:sp>
      <p:sp>
        <p:nvSpPr>
          <p:cNvPr id="7" name="Text 4"/>
          <p:cNvSpPr/>
          <p:nvPr/>
        </p:nvSpPr>
        <p:spPr>
          <a:xfrm>
            <a:off x="3368962" y="2238501"/>
            <a:ext cx="1537570" cy="192201"/>
          </a:xfrm>
          <a:prstGeom prst="rect">
            <a:avLst/>
          </a:prstGeom>
          <a:noFill/>
          <a:ln/>
        </p:spPr>
        <p:txBody>
          <a:bodyPr wrap="none" lIns="0" tIns="0" rIns="0" bIns="0" rtlCol="0" anchor="t"/>
          <a:lstStyle/>
          <a:p>
            <a:pPr marL="0" indent="0" algn="ctr">
              <a:lnSpc>
                <a:spcPct val="104000"/>
              </a:lnSpc>
              <a:buNone/>
            </a:pPr>
            <a:r>
              <a:rPr lang="en-US" sz="1200" dirty="0">
                <a:solidFill>
                  <a:srgbClr val="E2E6E9"/>
                </a:solidFill>
                <a:latin typeface="Merriweather" pitchFamily="34" charset="0"/>
                <a:ea typeface="Merriweather" pitchFamily="34" charset="-122"/>
                <a:cs typeface="Merriweather" pitchFamily="34" charset="-120"/>
              </a:rPr>
              <a:t>High (S1=1)</a:t>
            </a:r>
            <a:endParaRPr lang="en-US" sz="1200" dirty="0"/>
          </a:p>
        </p:txBody>
      </p:sp>
      <p:sp>
        <p:nvSpPr>
          <p:cNvPr id="8" name="Text 5"/>
          <p:cNvSpPr/>
          <p:nvPr/>
        </p:nvSpPr>
        <p:spPr>
          <a:xfrm>
            <a:off x="2636695" y="4481380"/>
            <a:ext cx="1318894" cy="283390"/>
          </a:xfrm>
          <a:prstGeom prst="rect">
            <a:avLst/>
          </a:prstGeom>
          <a:noFill/>
          <a:ln/>
        </p:spPr>
        <p:txBody>
          <a:bodyPr wrap="square" lIns="0" tIns="0" rIns="0" bIns="0" rtlCol="0" anchor="t">
            <a:normAutofit/>
          </a:bodyPr>
          <a:lstStyle/>
          <a:p>
            <a:pPr marL="0" indent="0" algn="ctr">
              <a:lnSpc>
                <a:spcPct val="96000"/>
              </a:lnSpc>
              <a:buNone/>
            </a:pPr>
            <a:r>
              <a:rPr lang="en-US" sz="950" dirty="0">
                <a:solidFill>
                  <a:srgbClr val="E2E6E9"/>
                </a:solidFill>
                <a:latin typeface="Merriweather" pitchFamily="34" charset="0"/>
                <a:ea typeface="Merriweather" pitchFamily="34" charset="-122"/>
                <a:cs typeface="Merriweather" pitchFamily="34" charset="-120"/>
              </a:rPr>
              <a:t>Shift Left — S1=1 S0=0</a:t>
            </a:r>
            <a:endParaRPr lang="en-US" sz="950" dirty="0"/>
          </a:p>
        </p:txBody>
      </p:sp>
      <p:sp>
        <p:nvSpPr>
          <p:cNvPr id="9" name="Text 6"/>
          <p:cNvSpPr/>
          <p:nvPr/>
        </p:nvSpPr>
        <p:spPr>
          <a:xfrm>
            <a:off x="4447610" y="4488214"/>
            <a:ext cx="1318893" cy="283390"/>
          </a:xfrm>
          <a:prstGeom prst="rect">
            <a:avLst/>
          </a:prstGeom>
          <a:noFill/>
          <a:ln/>
        </p:spPr>
        <p:txBody>
          <a:bodyPr wrap="square" lIns="0" tIns="0" rIns="0" bIns="0" rtlCol="0" anchor="t">
            <a:normAutofit/>
          </a:bodyPr>
          <a:lstStyle/>
          <a:p>
            <a:pPr marL="0" indent="0" algn="ctr">
              <a:lnSpc>
                <a:spcPct val="96000"/>
              </a:lnSpc>
              <a:buNone/>
            </a:pPr>
            <a:r>
              <a:rPr lang="en-US" sz="950" dirty="0">
                <a:solidFill>
                  <a:srgbClr val="E2E6E9"/>
                </a:solidFill>
                <a:latin typeface="Merriweather" pitchFamily="34" charset="0"/>
                <a:ea typeface="Merriweather" pitchFamily="34" charset="-122"/>
                <a:cs typeface="Merriweather" pitchFamily="34" charset="-120"/>
              </a:rPr>
              <a:t>Parallel Load — S1=1 S0=1</a:t>
            </a:r>
            <a:endParaRPr lang="en-US" sz="950" dirty="0"/>
          </a:p>
        </p:txBody>
      </p:sp>
      <p:sp>
        <p:nvSpPr>
          <p:cNvPr id="10" name="Text 7"/>
          <p:cNvSpPr/>
          <p:nvPr/>
        </p:nvSpPr>
        <p:spPr>
          <a:xfrm>
            <a:off x="4447610" y="3223958"/>
            <a:ext cx="1318893" cy="283390"/>
          </a:xfrm>
          <a:prstGeom prst="rect">
            <a:avLst/>
          </a:prstGeom>
          <a:noFill/>
          <a:ln/>
        </p:spPr>
        <p:txBody>
          <a:bodyPr wrap="square" lIns="0" tIns="0" rIns="0" bIns="0" rtlCol="0" anchor="t">
            <a:normAutofit/>
          </a:bodyPr>
          <a:lstStyle/>
          <a:p>
            <a:pPr marL="0" indent="0" algn="ctr">
              <a:lnSpc>
                <a:spcPct val="96000"/>
              </a:lnSpc>
              <a:buNone/>
            </a:pPr>
            <a:r>
              <a:rPr lang="en-US" sz="950" dirty="0">
                <a:solidFill>
                  <a:srgbClr val="E2E6E9"/>
                </a:solidFill>
                <a:latin typeface="Merriweather" pitchFamily="34" charset="0"/>
                <a:ea typeface="Merriweather" pitchFamily="34" charset="-122"/>
                <a:cs typeface="Merriweather" pitchFamily="34" charset="-120"/>
              </a:rPr>
              <a:t>Shift Right — S1=0 S0=1</a:t>
            </a:r>
            <a:endParaRPr lang="en-US" sz="950" dirty="0"/>
          </a:p>
        </p:txBody>
      </p:sp>
      <p:sp>
        <p:nvSpPr>
          <p:cNvPr id="11" name="Text 8"/>
          <p:cNvSpPr/>
          <p:nvPr/>
        </p:nvSpPr>
        <p:spPr>
          <a:xfrm>
            <a:off x="2595693" y="3223958"/>
            <a:ext cx="1318893" cy="283390"/>
          </a:xfrm>
          <a:prstGeom prst="rect">
            <a:avLst/>
          </a:prstGeom>
          <a:noFill/>
          <a:ln/>
        </p:spPr>
        <p:txBody>
          <a:bodyPr wrap="square" lIns="0" tIns="0" rIns="0" bIns="0" rtlCol="0" anchor="t">
            <a:normAutofit/>
          </a:bodyPr>
          <a:lstStyle/>
          <a:p>
            <a:pPr marL="0" indent="0" algn="ctr">
              <a:lnSpc>
                <a:spcPct val="96000"/>
              </a:lnSpc>
              <a:buNone/>
            </a:pPr>
            <a:r>
              <a:rPr lang="en-US" sz="950" dirty="0">
                <a:solidFill>
                  <a:srgbClr val="E2E6E9"/>
                </a:solidFill>
                <a:latin typeface="Merriweather" pitchFamily="34" charset="0"/>
                <a:ea typeface="Merriweather" pitchFamily="34" charset="-122"/>
                <a:cs typeface="Merriweather" pitchFamily="34" charset="-120"/>
              </a:rPr>
              <a:t>Hold — S1=0 S0=0 (No change)</a:t>
            </a:r>
            <a:endParaRPr lang="en-US" sz="950" dirty="0"/>
          </a:p>
        </p:txBody>
      </p:sp>
      <p:sp>
        <p:nvSpPr>
          <p:cNvPr id="12" name="Text 9"/>
          <p:cNvSpPr/>
          <p:nvPr/>
        </p:nvSpPr>
        <p:spPr>
          <a:xfrm>
            <a:off x="7990184" y="1535509"/>
            <a:ext cx="3487948" cy="271165"/>
          </a:xfrm>
          <a:prstGeom prst="rect">
            <a:avLst/>
          </a:prstGeom>
          <a:noFill/>
          <a:ln/>
        </p:spPr>
        <p:txBody>
          <a:bodyPr wrap="none" lIns="0" tIns="0" rIns="0" bIns="0" rtlCol="0" anchor="t"/>
          <a:lstStyle/>
          <a:p>
            <a:pPr marL="0" indent="0" algn="l">
              <a:lnSpc>
                <a:spcPct val="104000"/>
              </a:lnSpc>
              <a:buNone/>
            </a:pPr>
            <a:r>
              <a:rPr lang="en-US" sz="1700" dirty="0">
                <a:solidFill>
                  <a:srgbClr val="F5F0F0"/>
                </a:solidFill>
                <a:latin typeface="Merriweather" pitchFamily="34" charset="0"/>
                <a:ea typeface="Merriweather" pitchFamily="34" charset="-122"/>
                <a:cs typeface="Merriweather" pitchFamily="34" charset="-120"/>
              </a:rPr>
              <a:t>Select Line Logic</a:t>
            </a:r>
            <a:endParaRPr lang="en-US" sz="1700" dirty="0"/>
          </a:p>
        </p:txBody>
      </p:sp>
      <p:sp>
        <p:nvSpPr>
          <p:cNvPr id="13" name="Shape 10"/>
          <p:cNvSpPr/>
          <p:nvPr/>
        </p:nvSpPr>
        <p:spPr>
          <a:xfrm>
            <a:off x="7990184" y="1971377"/>
            <a:ext cx="3487948" cy="4094559"/>
          </a:xfrm>
          <a:prstGeom prst="roundRect">
            <a:avLst>
              <a:gd name="adj" fmla="val 2090"/>
            </a:avLst>
          </a:prstGeom>
          <a:solidFill>
            <a:srgbClr val="003180"/>
          </a:solidFill>
          <a:ln w="6350">
            <a:solidFill>
              <a:srgbClr val="194A99"/>
            </a:solidFill>
            <a:prstDash val="solid"/>
          </a:ln>
        </p:spPr>
      </p:sp>
      <p:sp>
        <p:nvSpPr>
          <p:cNvPr id="14" name="Shape 11"/>
          <p:cNvSpPr/>
          <p:nvPr/>
        </p:nvSpPr>
        <p:spPr>
          <a:xfrm>
            <a:off x="7996534" y="1977727"/>
            <a:ext cx="3475248" cy="1020465"/>
          </a:xfrm>
          <a:custGeom>
            <a:avLst/>
            <a:gdLst/>
            <a:ahLst/>
            <a:cxnLst/>
            <a:rect l="l" t="t" r="r" b="b"/>
            <a:pathLst>
              <a:path w="3475248" h="1020465">
                <a:moveTo>
                  <a:pt x="60742" y="0"/>
                </a:moveTo>
                <a:lnTo>
                  <a:pt x="3414506" y="0"/>
                </a:lnTo>
                <a:arcTo wR="60742" hR="60744" stAng="16200000" swAng="5400000"/>
                <a:lnTo>
                  <a:pt x="3475248" y="1020465"/>
                </a:lnTo>
                <a:lnTo>
                  <a:pt x="0" y="1020465"/>
                </a:lnTo>
                <a:lnTo>
                  <a:pt x="0" y="60744"/>
                </a:lnTo>
                <a:arcTo wR="60742" hR="60744" stAng="10800000" swAng="5400000"/>
                <a:close/>
              </a:path>
            </a:pathLst>
          </a:custGeom>
          <a:solidFill>
            <a:srgbClr val="003180"/>
          </a:solidFill>
          <a:ln/>
        </p:spPr>
      </p:sp>
      <p:sp>
        <p:nvSpPr>
          <p:cNvPr id="15" name="Text 12"/>
          <p:cNvSpPr/>
          <p:nvPr/>
        </p:nvSpPr>
        <p:spPr>
          <a:xfrm>
            <a:off x="8170063" y="2151261"/>
            <a:ext cx="3128190" cy="271165"/>
          </a:xfrm>
          <a:prstGeom prst="rect">
            <a:avLst/>
          </a:prstGeom>
          <a:noFill/>
          <a:ln/>
        </p:spPr>
        <p:txBody>
          <a:bodyPr wrap="none" lIns="0" tIns="0" rIns="0" bIns="0" rtlCol="0" anchor="t"/>
          <a:lstStyle/>
          <a:p>
            <a:pPr marL="0" indent="0" algn="l">
              <a:lnSpc>
                <a:spcPct val="104000"/>
              </a:lnSpc>
              <a:buNone/>
            </a:pPr>
            <a:r>
              <a:rPr lang="en-US" sz="1700" dirty="0">
                <a:solidFill>
                  <a:srgbClr val="E2E6E9"/>
                </a:solidFill>
                <a:latin typeface="Merriweather" pitchFamily="34" charset="0"/>
                <a:ea typeface="Merriweather" pitchFamily="34" charset="-122"/>
                <a:cs typeface="Merriweather" pitchFamily="34" charset="-120"/>
              </a:rPr>
              <a:t>S1=0, S0=0</a:t>
            </a:r>
            <a:endParaRPr lang="en-US" sz="1700" dirty="0"/>
          </a:p>
        </p:txBody>
      </p:sp>
      <p:sp>
        <p:nvSpPr>
          <p:cNvPr id="16" name="Text 13"/>
          <p:cNvSpPr/>
          <p:nvPr/>
        </p:nvSpPr>
        <p:spPr>
          <a:xfrm>
            <a:off x="8170063" y="2568773"/>
            <a:ext cx="3128190" cy="255885"/>
          </a:xfrm>
          <a:prstGeom prst="rect">
            <a:avLst/>
          </a:prstGeom>
          <a:noFill/>
          <a:ln/>
        </p:spPr>
        <p:txBody>
          <a:bodyPr wrap="none" lIns="0" tIns="0" rIns="0" bIns="0" rtlCol="0" anchor="t"/>
          <a:lstStyle/>
          <a:p>
            <a:pPr marL="0" indent="0" algn="l">
              <a:lnSpc>
                <a:spcPct val="123000"/>
              </a:lnSpc>
              <a:buNone/>
            </a:pPr>
            <a:r>
              <a:rPr lang="en-US" sz="1350" dirty="0">
                <a:solidFill>
                  <a:srgbClr val="E2E6E9"/>
                </a:solidFill>
                <a:latin typeface="Merriweather" pitchFamily="34" charset="0"/>
                <a:ea typeface="Merriweather" pitchFamily="34" charset="-122"/>
                <a:cs typeface="Merriweather" pitchFamily="34" charset="-120"/>
              </a:rPr>
              <a:t>No Change</a:t>
            </a:r>
            <a:endParaRPr lang="en-US" sz="1350" dirty="0"/>
          </a:p>
        </p:txBody>
      </p:sp>
      <p:sp>
        <p:nvSpPr>
          <p:cNvPr id="17" name="Shape 14"/>
          <p:cNvSpPr/>
          <p:nvPr/>
        </p:nvSpPr>
        <p:spPr>
          <a:xfrm>
            <a:off x="7996534" y="2998192"/>
            <a:ext cx="3475248" cy="1020465"/>
          </a:xfrm>
          <a:prstGeom prst="rect">
            <a:avLst/>
          </a:prstGeom>
          <a:solidFill>
            <a:srgbClr val="003180"/>
          </a:solidFill>
          <a:ln/>
        </p:spPr>
      </p:sp>
      <p:sp>
        <p:nvSpPr>
          <p:cNvPr id="18" name="Shape 15"/>
          <p:cNvSpPr/>
          <p:nvPr/>
        </p:nvSpPr>
        <p:spPr>
          <a:xfrm>
            <a:off x="7996534" y="2998192"/>
            <a:ext cx="3475248" cy="19050"/>
          </a:xfrm>
          <a:prstGeom prst="roundRect">
            <a:avLst>
              <a:gd name="adj" fmla="val 49999"/>
            </a:avLst>
          </a:prstGeom>
          <a:solidFill>
            <a:srgbClr val="194A99"/>
          </a:solidFill>
          <a:ln/>
        </p:spPr>
      </p:sp>
      <p:sp>
        <p:nvSpPr>
          <p:cNvPr id="19" name="Text 16"/>
          <p:cNvSpPr/>
          <p:nvPr/>
        </p:nvSpPr>
        <p:spPr>
          <a:xfrm>
            <a:off x="8170063" y="3171726"/>
            <a:ext cx="3128190" cy="271165"/>
          </a:xfrm>
          <a:prstGeom prst="rect">
            <a:avLst/>
          </a:prstGeom>
          <a:noFill/>
          <a:ln/>
        </p:spPr>
        <p:txBody>
          <a:bodyPr wrap="none" lIns="0" tIns="0" rIns="0" bIns="0" rtlCol="0" anchor="t"/>
          <a:lstStyle/>
          <a:p>
            <a:pPr marL="0" indent="0" algn="l">
              <a:lnSpc>
                <a:spcPct val="104000"/>
              </a:lnSpc>
              <a:buNone/>
            </a:pPr>
            <a:r>
              <a:rPr lang="en-US" sz="1700" dirty="0">
                <a:solidFill>
                  <a:srgbClr val="E2E6E9"/>
                </a:solidFill>
                <a:latin typeface="Merriweather" pitchFamily="34" charset="0"/>
                <a:ea typeface="Merriweather" pitchFamily="34" charset="-122"/>
                <a:cs typeface="Merriweather" pitchFamily="34" charset="-120"/>
              </a:rPr>
              <a:t>S1=0, S0=1</a:t>
            </a:r>
            <a:endParaRPr lang="en-US" sz="1700" dirty="0"/>
          </a:p>
        </p:txBody>
      </p:sp>
      <p:sp>
        <p:nvSpPr>
          <p:cNvPr id="20" name="Text 17"/>
          <p:cNvSpPr/>
          <p:nvPr/>
        </p:nvSpPr>
        <p:spPr>
          <a:xfrm>
            <a:off x="8170063" y="3589238"/>
            <a:ext cx="3128190" cy="255885"/>
          </a:xfrm>
          <a:prstGeom prst="rect">
            <a:avLst/>
          </a:prstGeom>
          <a:noFill/>
          <a:ln/>
        </p:spPr>
        <p:txBody>
          <a:bodyPr wrap="none" lIns="0" tIns="0" rIns="0" bIns="0" rtlCol="0" anchor="t"/>
          <a:lstStyle/>
          <a:p>
            <a:pPr marL="0" indent="0" algn="l">
              <a:lnSpc>
                <a:spcPct val="123000"/>
              </a:lnSpc>
              <a:buNone/>
            </a:pPr>
            <a:r>
              <a:rPr lang="en-US" sz="1350" dirty="0">
                <a:solidFill>
                  <a:srgbClr val="E2E6E9"/>
                </a:solidFill>
                <a:latin typeface="Merriweather" pitchFamily="34" charset="0"/>
                <a:ea typeface="Merriweather" pitchFamily="34" charset="-122"/>
                <a:cs typeface="Merriweather" pitchFamily="34" charset="-120"/>
              </a:rPr>
              <a:t>Shift Right</a:t>
            </a:r>
            <a:endParaRPr lang="en-US" sz="1350" dirty="0"/>
          </a:p>
        </p:txBody>
      </p:sp>
      <p:sp>
        <p:nvSpPr>
          <p:cNvPr id="21" name="Shape 18"/>
          <p:cNvSpPr/>
          <p:nvPr/>
        </p:nvSpPr>
        <p:spPr>
          <a:xfrm>
            <a:off x="7996534" y="4018657"/>
            <a:ext cx="3475248" cy="1020465"/>
          </a:xfrm>
          <a:prstGeom prst="rect">
            <a:avLst/>
          </a:prstGeom>
          <a:solidFill>
            <a:srgbClr val="003180"/>
          </a:solidFill>
          <a:ln/>
        </p:spPr>
      </p:sp>
      <p:sp>
        <p:nvSpPr>
          <p:cNvPr id="22" name="Shape 19"/>
          <p:cNvSpPr/>
          <p:nvPr/>
        </p:nvSpPr>
        <p:spPr>
          <a:xfrm>
            <a:off x="7996534" y="4018657"/>
            <a:ext cx="3475248" cy="19050"/>
          </a:xfrm>
          <a:prstGeom prst="roundRect">
            <a:avLst>
              <a:gd name="adj" fmla="val 49999"/>
            </a:avLst>
          </a:prstGeom>
          <a:solidFill>
            <a:srgbClr val="194A99"/>
          </a:solidFill>
          <a:ln/>
        </p:spPr>
      </p:sp>
      <p:sp>
        <p:nvSpPr>
          <p:cNvPr id="23" name="Text 20"/>
          <p:cNvSpPr/>
          <p:nvPr/>
        </p:nvSpPr>
        <p:spPr>
          <a:xfrm>
            <a:off x="8170063" y="4192191"/>
            <a:ext cx="3128190" cy="271165"/>
          </a:xfrm>
          <a:prstGeom prst="rect">
            <a:avLst/>
          </a:prstGeom>
          <a:noFill/>
          <a:ln/>
        </p:spPr>
        <p:txBody>
          <a:bodyPr wrap="none" lIns="0" tIns="0" rIns="0" bIns="0" rtlCol="0" anchor="t"/>
          <a:lstStyle/>
          <a:p>
            <a:pPr marL="0" indent="0" algn="l">
              <a:lnSpc>
                <a:spcPct val="104000"/>
              </a:lnSpc>
              <a:buNone/>
            </a:pPr>
            <a:r>
              <a:rPr lang="en-US" sz="1700" dirty="0">
                <a:solidFill>
                  <a:srgbClr val="E2E6E9"/>
                </a:solidFill>
                <a:latin typeface="Merriweather" pitchFamily="34" charset="0"/>
                <a:ea typeface="Merriweather" pitchFamily="34" charset="-122"/>
                <a:cs typeface="Merriweather" pitchFamily="34" charset="-120"/>
              </a:rPr>
              <a:t>S1=1, S0=0</a:t>
            </a:r>
            <a:endParaRPr lang="en-US" sz="1700" dirty="0"/>
          </a:p>
        </p:txBody>
      </p:sp>
      <p:sp>
        <p:nvSpPr>
          <p:cNvPr id="24" name="Text 21"/>
          <p:cNvSpPr/>
          <p:nvPr/>
        </p:nvSpPr>
        <p:spPr>
          <a:xfrm>
            <a:off x="8170063" y="4609703"/>
            <a:ext cx="3128190" cy="255885"/>
          </a:xfrm>
          <a:prstGeom prst="rect">
            <a:avLst/>
          </a:prstGeom>
          <a:noFill/>
          <a:ln/>
        </p:spPr>
        <p:txBody>
          <a:bodyPr wrap="none" lIns="0" tIns="0" rIns="0" bIns="0" rtlCol="0" anchor="t"/>
          <a:lstStyle/>
          <a:p>
            <a:pPr marL="0" indent="0" algn="l">
              <a:lnSpc>
                <a:spcPct val="123000"/>
              </a:lnSpc>
              <a:buNone/>
            </a:pPr>
            <a:r>
              <a:rPr lang="en-US" sz="1350" dirty="0">
                <a:solidFill>
                  <a:srgbClr val="E2E6E9"/>
                </a:solidFill>
                <a:latin typeface="Merriweather" pitchFamily="34" charset="0"/>
                <a:ea typeface="Merriweather" pitchFamily="34" charset="-122"/>
                <a:cs typeface="Merriweather" pitchFamily="34" charset="-120"/>
              </a:rPr>
              <a:t>Shift Left</a:t>
            </a:r>
            <a:endParaRPr lang="en-US" sz="1350" dirty="0"/>
          </a:p>
        </p:txBody>
      </p:sp>
      <p:sp>
        <p:nvSpPr>
          <p:cNvPr id="25" name="Shape 22"/>
          <p:cNvSpPr/>
          <p:nvPr/>
        </p:nvSpPr>
        <p:spPr>
          <a:xfrm>
            <a:off x="7996534" y="5039122"/>
            <a:ext cx="3475248" cy="1020465"/>
          </a:xfrm>
          <a:custGeom>
            <a:avLst/>
            <a:gdLst/>
            <a:ahLst/>
            <a:cxnLst/>
            <a:rect l="l" t="t" r="r" b="b"/>
            <a:pathLst>
              <a:path w="3475248" h="1020465">
                <a:moveTo>
                  <a:pt x="0" y="0"/>
                </a:moveTo>
                <a:lnTo>
                  <a:pt x="3475248" y="0"/>
                </a:lnTo>
                <a:lnTo>
                  <a:pt x="3475248" y="959721"/>
                </a:lnTo>
                <a:arcTo wR="60742" hR="60744" stAng="0" swAng="5400000"/>
                <a:lnTo>
                  <a:pt x="60742" y="1020465"/>
                </a:lnTo>
                <a:arcTo wR="60742" hR="60744" stAng="5400000" swAng="5400000"/>
                <a:lnTo>
                  <a:pt x="0" y="0"/>
                </a:lnTo>
                <a:close/>
              </a:path>
            </a:pathLst>
          </a:custGeom>
          <a:solidFill>
            <a:srgbClr val="003180"/>
          </a:solidFill>
          <a:ln/>
        </p:spPr>
      </p:sp>
      <p:sp>
        <p:nvSpPr>
          <p:cNvPr id="26" name="Shape 23"/>
          <p:cNvSpPr/>
          <p:nvPr/>
        </p:nvSpPr>
        <p:spPr>
          <a:xfrm>
            <a:off x="7996534" y="5039122"/>
            <a:ext cx="3475248" cy="19050"/>
          </a:xfrm>
          <a:prstGeom prst="roundRect">
            <a:avLst>
              <a:gd name="adj" fmla="val 49999"/>
            </a:avLst>
          </a:prstGeom>
          <a:solidFill>
            <a:srgbClr val="194A99"/>
          </a:solidFill>
          <a:ln/>
        </p:spPr>
      </p:sp>
      <p:sp>
        <p:nvSpPr>
          <p:cNvPr id="27" name="Text 24"/>
          <p:cNvSpPr/>
          <p:nvPr/>
        </p:nvSpPr>
        <p:spPr>
          <a:xfrm>
            <a:off x="8170063" y="5212655"/>
            <a:ext cx="3128190" cy="271165"/>
          </a:xfrm>
          <a:prstGeom prst="rect">
            <a:avLst/>
          </a:prstGeom>
          <a:noFill/>
          <a:ln/>
        </p:spPr>
        <p:txBody>
          <a:bodyPr wrap="none" lIns="0" tIns="0" rIns="0" bIns="0" rtlCol="0" anchor="t"/>
          <a:lstStyle/>
          <a:p>
            <a:pPr marL="0" indent="0" algn="l">
              <a:lnSpc>
                <a:spcPct val="104000"/>
              </a:lnSpc>
              <a:buNone/>
            </a:pPr>
            <a:r>
              <a:rPr lang="en-US" sz="1700" dirty="0">
                <a:solidFill>
                  <a:srgbClr val="E2E6E9"/>
                </a:solidFill>
                <a:latin typeface="Merriweather" pitchFamily="34" charset="0"/>
                <a:ea typeface="Merriweather" pitchFamily="34" charset="-122"/>
                <a:cs typeface="Merriweather" pitchFamily="34" charset="-120"/>
              </a:rPr>
              <a:t>S1=1, S0=1</a:t>
            </a:r>
            <a:endParaRPr lang="en-US" sz="1700" dirty="0"/>
          </a:p>
        </p:txBody>
      </p:sp>
      <p:sp>
        <p:nvSpPr>
          <p:cNvPr id="28" name="Text 25"/>
          <p:cNvSpPr/>
          <p:nvPr/>
        </p:nvSpPr>
        <p:spPr>
          <a:xfrm>
            <a:off x="8170063" y="5630168"/>
            <a:ext cx="3128190" cy="255885"/>
          </a:xfrm>
          <a:prstGeom prst="rect">
            <a:avLst/>
          </a:prstGeom>
          <a:noFill/>
          <a:ln/>
        </p:spPr>
        <p:txBody>
          <a:bodyPr wrap="none" lIns="0" tIns="0" rIns="0" bIns="0" rtlCol="0" anchor="t"/>
          <a:lstStyle/>
          <a:p>
            <a:pPr marL="0" indent="0" algn="l">
              <a:lnSpc>
                <a:spcPct val="123000"/>
              </a:lnSpc>
              <a:buNone/>
            </a:pPr>
            <a:r>
              <a:rPr lang="en-US" sz="1350" dirty="0">
                <a:solidFill>
                  <a:srgbClr val="E2E6E9"/>
                </a:solidFill>
                <a:latin typeface="Merriweather" pitchFamily="34" charset="0"/>
                <a:ea typeface="Merriweather" pitchFamily="34" charset="-122"/>
                <a:cs typeface="Merriweather" pitchFamily="34" charset="-120"/>
              </a:rPr>
              <a:t>Parallel Load</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291700" y="600869"/>
            <a:ext cx="6180181" cy="411758"/>
          </a:xfrm>
          <a:prstGeom prst="rect">
            <a:avLst/>
          </a:prstGeom>
          <a:noFill/>
          <a:ln/>
        </p:spPr>
        <p:txBody>
          <a:bodyPr wrap="none" lIns="0" tIns="0" rIns="0" bIns="0" rtlCol="0" anchor="t"/>
          <a:lstStyle/>
          <a:p>
            <a:pPr marL="0" indent="0" algn="l">
              <a:lnSpc>
                <a:spcPct val="104000"/>
              </a:lnSpc>
              <a:buNone/>
            </a:pPr>
            <a:r>
              <a:rPr lang="en-US" sz="2550" dirty="0">
                <a:solidFill>
                  <a:srgbClr val="F5F0F0"/>
                </a:solidFill>
                <a:latin typeface="Merriweather" pitchFamily="34" charset="0"/>
                <a:ea typeface="Merriweather" pitchFamily="34" charset="-122"/>
                <a:cs typeface="Merriweather" pitchFamily="34" charset="-120"/>
              </a:rPr>
              <a:t>Logic Gate Implementation</a:t>
            </a:r>
            <a:endParaRPr lang="en-US" sz="2550" dirty="0"/>
          </a:p>
        </p:txBody>
      </p:sp>
      <p:sp>
        <p:nvSpPr>
          <p:cNvPr id="4" name="Text 1"/>
          <p:cNvSpPr/>
          <p:nvPr/>
        </p:nvSpPr>
        <p:spPr>
          <a:xfrm>
            <a:off x="5291700" y="1139230"/>
            <a:ext cx="6180181" cy="345877"/>
          </a:xfrm>
          <a:prstGeom prst="rect">
            <a:avLst/>
          </a:prstGeom>
          <a:noFill/>
          <a:ln/>
        </p:spPr>
        <p:txBody>
          <a:bodyPr wrap="square" lIns="0" tIns="0" rIns="0" bIns="0" rtlCol="0" anchor="t">
            <a:normAutofit/>
          </a:bodyPr>
          <a:lstStyle/>
          <a:p>
            <a:pPr marL="0" indent="0" algn="l">
              <a:lnSpc>
                <a:spcPct val="109000"/>
              </a:lnSpc>
              <a:buNone/>
            </a:pPr>
            <a:r>
              <a:rPr lang="en-US" sz="1000" dirty="0">
                <a:solidFill>
                  <a:srgbClr val="E2E6E9"/>
                </a:solidFill>
                <a:latin typeface="Merriweather" pitchFamily="34" charset="0"/>
                <a:ea typeface="Merriweather" pitchFamily="34" charset="-122"/>
                <a:cs typeface="Merriweather" pitchFamily="34" charset="-120"/>
              </a:rPr>
              <a:t>Multiplexer logic uses AND gates to mask each input, NOT gates to generate complementary select signals, and a final OR gate to combine the selected path into the output.</a:t>
            </a:r>
            <a:endParaRPr lang="en-US" sz="1000" dirty="0"/>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91700" y="1580059"/>
            <a:ext cx="263518" cy="263525"/>
          </a:xfrm>
          <a:prstGeom prst="rect">
            <a:avLst/>
          </a:prstGeom>
        </p:spPr>
      </p:pic>
      <p:sp>
        <p:nvSpPr>
          <p:cNvPr id="6" name="Text 2"/>
          <p:cNvSpPr/>
          <p:nvPr/>
        </p:nvSpPr>
        <p:spPr>
          <a:xfrm>
            <a:off x="5660685" y="1625302"/>
            <a:ext cx="5811196" cy="205879"/>
          </a:xfrm>
          <a:prstGeom prst="rect">
            <a:avLst/>
          </a:prstGeom>
          <a:noFill/>
          <a:ln/>
        </p:spPr>
        <p:txBody>
          <a:bodyPr wrap="none" lIns="0" tIns="0" rIns="0" bIns="0" rtlCol="0" anchor="t"/>
          <a:lstStyle/>
          <a:p>
            <a:pPr marL="0" indent="0" algn="l">
              <a:lnSpc>
                <a:spcPct val="104000"/>
              </a:lnSpc>
              <a:buNone/>
            </a:pPr>
            <a:r>
              <a:rPr lang="en-US" sz="1250" dirty="0">
                <a:solidFill>
                  <a:srgbClr val="E2E6E9"/>
                </a:solidFill>
                <a:latin typeface="Merriweather" pitchFamily="34" charset="0"/>
                <a:ea typeface="Merriweather" pitchFamily="34" charset="-122"/>
                <a:cs typeface="Merriweather" pitchFamily="34" charset="-120"/>
              </a:rPr>
              <a:t>AND Gates</a:t>
            </a:r>
            <a:endParaRPr lang="en-US" sz="1250" dirty="0"/>
          </a:p>
        </p:txBody>
      </p:sp>
      <p:sp>
        <p:nvSpPr>
          <p:cNvPr id="7" name="Text 3"/>
          <p:cNvSpPr/>
          <p:nvPr/>
        </p:nvSpPr>
        <p:spPr>
          <a:xfrm>
            <a:off x="5660685" y="1881783"/>
            <a:ext cx="5811196" cy="172938"/>
          </a:xfrm>
          <a:prstGeom prst="rect">
            <a:avLst/>
          </a:prstGeom>
          <a:noFill/>
          <a:ln/>
        </p:spPr>
        <p:txBody>
          <a:bodyPr wrap="none" lIns="0" tIns="0" rIns="0" bIns="0" rtlCol="0" anchor="t"/>
          <a:lstStyle/>
          <a:p>
            <a:pPr marL="0" indent="0" algn="l">
              <a:lnSpc>
                <a:spcPct val="109000"/>
              </a:lnSpc>
              <a:buNone/>
            </a:pPr>
            <a:r>
              <a:rPr lang="en-US" sz="1000" dirty="0">
                <a:solidFill>
                  <a:srgbClr val="E2E6E9"/>
                </a:solidFill>
                <a:latin typeface="Merriweather" pitchFamily="34" charset="0"/>
                <a:ea typeface="Merriweather" pitchFamily="34" charset="-122"/>
                <a:cs typeface="Merriweather" pitchFamily="34" charset="-120"/>
              </a:rPr>
              <a:t>Mask select signals per input line</a:t>
            </a:r>
            <a:endParaRPr lang="en-US" sz="1000" dirty="0"/>
          </a:p>
        </p:txBody>
      </p:sp>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291700" y="2223492"/>
            <a:ext cx="263518" cy="263525"/>
          </a:xfrm>
          <a:prstGeom prst="rect">
            <a:avLst/>
          </a:prstGeom>
        </p:spPr>
      </p:pic>
      <p:sp>
        <p:nvSpPr>
          <p:cNvPr id="9" name="Text 4"/>
          <p:cNvSpPr/>
          <p:nvPr/>
        </p:nvSpPr>
        <p:spPr>
          <a:xfrm>
            <a:off x="5660685" y="2268736"/>
            <a:ext cx="5811196" cy="205879"/>
          </a:xfrm>
          <a:prstGeom prst="rect">
            <a:avLst/>
          </a:prstGeom>
          <a:noFill/>
          <a:ln/>
        </p:spPr>
        <p:txBody>
          <a:bodyPr wrap="none" lIns="0" tIns="0" rIns="0" bIns="0" rtlCol="0" anchor="t"/>
          <a:lstStyle/>
          <a:p>
            <a:pPr marL="0" indent="0" algn="l">
              <a:lnSpc>
                <a:spcPct val="104000"/>
              </a:lnSpc>
              <a:buNone/>
            </a:pPr>
            <a:r>
              <a:rPr lang="en-US" sz="1250" dirty="0">
                <a:solidFill>
                  <a:srgbClr val="E2E6E9"/>
                </a:solidFill>
                <a:latin typeface="Merriweather" pitchFamily="34" charset="0"/>
                <a:ea typeface="Merriweather" pitchFamily="34" charset="-122"/>
                <a:cs typeface="Merriweather" pitchFamily="34" charset="-120"/>
              </a:rPr>
              <a:t>OR Gates</a:t>
            </a:r>
            <a:endParaRPr lang="en-US" sz="1250" dirty="0"/>
          </a:p>
        </p:txBody>
      </p:sp>
      <p:sp>
        <p:nvSpPr>
          <p:cNvPr id="10" name="Text 5"/>
          <p:cNvSpPr/>
          <p:nvPr/>
        </p:nvSpPr>
        <p:spPr>
          <a:xfrm>
            <a:off x="5660685" y="2525216"/>
            <a:ext cx="5811196" cy="172938"/>
          </a:xfrm>
          <a:prstGeom prst="rect">
            <a:avLst/>
          </a:prstGeom>
          <a:noFill/>
          <a:ln/>
        </p:spPr>
        <p:txBody>
          <a:bodyPr wrap="none" lIns="0" tIns="0" rIns="0" bIns="0" rtlCol="0" anchor="t"/>
          <a:lstStyle/>
          <a:p>
            <a:pPr marL="0" indent="0" algn="l">
              <a:lnSpc>
                <a:spcPct val="109000"/>
              </a:lnSpc>
              <a:buNone/>
            </a:pPr>
            <a:r>
              <a:rPr lang="en-US" sz="1000" dirty="0">
                <a:solidFill>
                  <a:srgbClr val="E2E6E9"/>
                </a:solidFill>
                <a:latin typeface="Merriweather" pitchFamily="34" charset="0"/>
                <a:ea typeface="Merriweather" pitchFamily="34" charset="-122"/>
                <a:cs typeface="Merriweather" pitchFamily="34" charset="-120"/>
              </a:rPr>
              <a:t>Combine selected paths into MUX output</a:t>
            </a:r>
            <a:endParaRPr lang="en-US" sz="1000" dirty="0"/>
          </a:p>
        </p:txBody>
      </p:sp>
      <p:pic>
        <p:nvPicPr>
          <p:cNvPr id="1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291700" y="2866926"/>
            <a:ext cx="263518" cy="263525"/>
          </a:xfrm>
          <a:prstGeom prst="rect">
            <a:avLst/>
          </a:prstGeom>
        </p:spPr>
      </p:pic>
      <p:sp>
        <p:nvSpPr>
          <p:cNvPr id="12" name="Text 6"/>
          <p:cNvSpPr/>
          <p:nvPr/>
        </p:nvSpPr>
        <p:spPr>
          <a:xfrm>
            <a:off x="5660685" y="2912170"/>
            <a:ext cx="5811196" cy="205879"/>
          </a:xfrm>
          <a:prstGeom prst="rect">
            <a:avLst/>
          </a:prstGeom>
          <a:noFill/>
          <a:ln/>
        </p:spPr>
        <p:txBody>
          <a:bodyPr wrap="none" lIns="0" tIns="0" rIns="0" bIns="0" rtlCol="0" anchor="t"/>
          <a:lstStyle/>
          <a:p>
            <a:pPr marL="0" indent="0" algn="l">
              <a:lnSpc>
                <a:spcPct val="104000"/>
              </a:lnSpc>
              <a:buNone/>
            </a:pPr>
            <a:r>
              <a:rPr lang="en-US" sz="1250" dirty="0">
                <a:solidFill>
                  <a:srgbClr val="E2E6E9"/>
                </a:solidFill>
                <a:latin typeface="Merriweather" pitchFamily="34" charset="0"/>
                <a:ea typeface="Merriweather" pitchFamily="34" charset="-122"/>
                <a:cs typeface="Merriweather" pitchFamily="34" charset="-120"/>
              </a:rPr>
              <a:t>NOT Gates</a:t>
            </a:r>
            <a:endParaRPr lang="en-US" sz="1250" dirty="0"/>
          </a:p>
        </p:txBody>
      </p:sp>
      <p:sp>
        <p:nvSpPr>
          <p:cNvPr id="13" name="Text 7"/>
          <p:cNvSpPr/>
          <p:nvPr/>
        </p:nvSpPr>
        <p:spPr>
          <a:xfrm>
            <a:off x="5660685" y="3168650"/>
            <a:ext cx="5811196" cy="172938"/>
          </a:xfrm>
          <a:prstGeom prst="rect">
            <a:avLst/>
          </a:prstGeom>
          <a:noFill/>
          <a:ln/>
        </p:spPr>
        <p:txBody>
          <a:bodyPr wrap="none" lIns="0" tIns="0" rIns="0" bIns="0" rtlCol="0" anchor="t"/>
          <a:lstStyle/>
          <a:p>
            <a:pPr marL="0" indent="0" algn="l">
              <a:lnSpc>
                <a:spcPct val="109000"/>
              </a:lnSpc>
              <a:buNone/>
            </a:pPr>
            <a:r>
              <a:rPr lang="en-US" sz="1000" dirty="0">
                <a:solidFill>
                  <a:srgbClr val="E2E6E9"/>
                </a:solidFill>
                <a:latin typeface="Merriweather" pitchFamily="34" charset="0"/>
                <a:ea typeface="Merriweather" pitchFamily="34" charset="-122"/>
                <a:cs typeface="Merriweather" pitchFamily="34" charset="-120"/>
              </a:rPr>
              <a:t>Invert select lines for complementary control</a:t>
            </a:r>
            <a:endParaRPr lang="en-US" sz="1000" dirty="0"/>
          </a:p>
        </p:txBody>
      </p:sp>
      <p:sp>
        <p:nvSpPr>
          <p:cNvPr id="14" name="Text 8"/>
          <p:cNvSpPr/>
          <p:nvPr/>
        </p:nvSpPr>
        <p:spPr>
          <a:xfrm>
            <a:off x="5291700" y="3468191"/>
            <a:ext cx="6180181" cy="205879"/>
          </a:xfrm>
          <a:prstGeom prst="rect">
            <a:avLst/>
          </a:prstGeom>
          <a:noFill/>
          <a:ln/>
        </p:spPr>
        <p:txBody>
          <a:bodyPr wrap="none" lIns="0" tIns="0" rIns="0" bIns="0" rtlCol="0" anchor="t"/>
          <a:lstStyle/>
          <a:p>
            <a:pPr marL="0" indent="0" algn="l">
              <a:lnSpc>
                <a:spcPct val="104000"/>
              </a:lnSpc>
              <a:buNone/>
            </a:pPr>
            <a:r>
              <a:rPr lang="en-US" sz="1250" dirty="0">
                <a:solidFill>
                  <a:srgbClr val="F5F0F0"/>
                </a:solidFill>
                <a:latin typeface="Merriweather" pitchFamily="34" charset="0"/>
                <a:ea typeface="Merriweather" pitchFamily="34" charset="-122"/>
                <a:cs typeface="Merriweather" pitchFamily="34" charset="-120"/>
              </a:rPr>
              <a:t>Multiplexer Gate Diagram</a:t>
            </a:r>
            <a:endParaRPr lang="en-US" sz="1250" dirty="0"/>
          </a:p>
        </p:txBody>
      </p:sp>
      <p:pic>
        <p:nvPicPr>
          <p:cNvPr id="15" name="Image 4" descr="preencoded.png"/>
          <p:cNvPicPr>
            <a:picLocks noChangeAspect="1"/>
          </p:cNvPicPr>
          <p:nvPr/>
        </p:nvPicPr>
        <p:blipFill>
          <a:blip r:embed="rId7"/>
          <a:stretch>
            <a:fillRect/>
          </a:stretch>
        </p:blipFill>
        <p:spPr>
          <a:xfrm>
            <a:off x="5291700" y="3800673"/>
            <a:ext cx="6180181" cy="2456359"/>
          </a:xfrm>
          <a:prstGeom prst="rect">
            <a:avLst/>
          </a:prstGeom>
        </p:spPr>
      </p:pic>
      <p:sp>
        <p:nvSpPr>
          <p:cNvPr id="16" name="Text 9"/>
          <p:cNvSpPr/>
          <p:nvPr/>
        </p:nvSpPr>
        <p:spPr>
          <a:xfrm>
            <a:off x="5437689" y="5648594"/>
            <a:ext cx="1663413" cy="111217"/>
          </a:xfrm>
          <a:prstGeom prst="rect">
            <a:avLst/>
          </a:prstGeom>
          <a:noFill/>
          <a:ln/>
        </p:spPr>
        <p:txBody>
          <a:bodyPr wrap="none" lIns="0" tIns="0" rIns="0" bIns="0" rtlCol="0" anchor="t"/>
          <a:lstStyle/>
          <a:p>
            <a:pPr marL="0" indent="0" algn="r">
              <a:lnSpc>
                <a:spcPct val="85000"/>
              </a:lnSpc>
              <a:buNone/>
            </a:pPr>
            <a:r>
              <a:rPr lang="en-US" sz="850" dirty="0">
                <a:solidFill>
                  <a:srgbClr val="E2E6E9"/>
                </a:solidFill>
                <a:latin typeface="Merriweather" pitchFamily="34" charset="0"/>
                <a:ea typeface="Merriweather" pitchFamily="34" charset="-122"/>
                <a:cs typeface="Merriweather" pitchFamily="34" charset="-120"/>
              </a:rPr>
              <a:t>I0, I1, I2, I3</a:t>
            </a:r>
            <a:endParaRPr lang="en-US" sz="850" dirty="0"/>
          </a:p>
        </p:txBody>
      </p:sp>
      <p:sp>
        <p:nvSpPr>
          <p:cNvPr id="17" name="Text 10"/>
          <p:cNvSpPr/>
          <p:nvPr/>
        </p:nvSpPr>
        <p:spPr>
          <a:xfrm>
            <a:off x="9704609" y="5119913"/>
            <a:ext cx="1621224" cy="222434"/>
          </a:xfrm>
          <a:prstGeom prst="rect">
            <a:avLst/>
          </a:prstGeom>
          <a:noFill/>
          <a:ln/>
        </p:spPr>
        <p:txBody>
          <a:bodyPr wrap="square" lIns="0" tIns="0" rIns="0" bIns="0" rtlCol="0" anchor="t">
            <a:normAutofit/>
          </a:bodyPr>
          <a:lstStyle/>
          <a:p>
            <a:pPr marL="0" indent="0" algn="l">
              <a:lnSpc>
                <a:spcPct val="85000"/>
              </a:lnSpc>
              <a:buNone/>
            </a:pPr>
            <a:r>
              <a:rPr lang="en-US" sz="850" dirty="0">
                <a:solidFill>
                  <a:srgbClr val="E2E6E9"/>
                </a:solidFill>
                <a:latin typeface="Merriweather" pitchFamily="34" charset="0"/>
                <a:ea typeface="Merriweather" pitchFamily="34" charset="-122"/>
                <a:cs typeface="Merriweather" pitchFamily="34" charset="-120"/>
              </a:rPr>
              <a:t>AND gating with S1, S0 and their complements</a:t>
            </a:r>
            <a:endParaRPr lang="en-US" sz="850" dirty="0"/>
          </a:p>
        </p:txBody>
      </p:sp>
      <p:sp>
        <p:nvSpPr>
          <p:cNvPr id="18" name="Text 11"/>
          <p:cNvSpPr/>
          <p:nvPr/>
        </p:nvSpPr>
        <p:spPr>
          <a:xfrm>
            <a:off x="5437594" y="4744543"/>
            <a:ext cx="1663412" cy="111217"/>
          </a:xfrm>
          <a:prstGeom prst="rect">
            <a:avLst/>
          </a:prstGeom>
          <a:noFill/>
          <a:ln/>
        </p:spPr>
        <p:txBody>
          <a:bodyPr wrap="none" lIns="0" tIns="0" rIns="0" bIns="0" rtlCol="0" anchor="t"/>
          <a:lstStyle/>
          <a:p>
            <a:pPr marL="0" indent="0" algn="r">
              <a:lnSpc>
                <a:spcPct val="85000"/>
              </a:lnSpc>
              <a:buNone/>
            </a:pPr>
            <a:r>
              <a:rPr lang="en-US" sz="850" dirty="0">
                <a:solidFill>
                  <a:srgbClr val="E2E6E9"/>
                </a:solidFill>
                <a:latin typeface="Merriweather" pitchFamily="34" charset="0"/>
                <a:ea typeface="Merriweather" pitchFamily="34" charset="-122"/>
                <a:cs typeface="Merriweather" pitchFamily="34" charset="-120"/>
              </a:rPr>
              <a:t>OR combine</a:t>
            </a:r>
            <a:endParaRPr lang="en-US" sz="850" dirty="0"/>
          </a:p>
        </p:txBody>
      </p:sp>
      <p:sp>
        <p:nvSpPr>
          <p:cNvPr id="19" name="Text 12"/>
          <p:cNvSpPr/>
          <p:nvPr/>
        </p:nvSpPr>
        <p:spPr>
          <a:xfrm>
            <a:off x="9704609" y="4235261"/>
            <a:ext cx="1621224" cy="111217"/>
          </a:xfrm>
          <a:prstGeom prst="rect">
            <a:avLst/>
          </a:prstGeom>
          <a:noFill/>
          <a:ln/>
        </p:spPr>
        <p:txBody>
          <a:bodyPr wrap="none" lIns="0" tIns="0" rIns="0" bIns="0" rtlCol="0" anchor="t"/>
          <a:lstStyle/>
          <a:p>
            <a:pPr marL="0" indent="0" algn="l">
              <a:lnSpc>
                <a:spcPct val="85000"/>
              </a:lnSpc>
              <a:buNone/>
            </a:pPr>
            <a:r>
              <a:rPr lang="en-US" sz="850" dirty="0">
                <a:solidFill>
                  <a:srgbClr val="E2E6E9"/>
                </a:solidFill>
                <a:latin typeface="Merriweather" pitchFamily="34" charset="0"/>
                <a:ea typeface="Merriweather" pitchFamily="34" charset="-122"/>
                <a:cs typeface="Merriweather" pitchFamily="34" charset="-120"/>
              </a:rPr>
              <a:t>Y output</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19814" y="1720850"/>
            <a:ext cx="10752067" cy="642739"/>
          </a:xfrm>
          <a:prstGeom prst="rect">
            <a:avLst/>
          </a:prstGeom>
          <a:noFill/>
          <a:ln/>
        </p:spPr>
        <p:txBody>
          <a:bodyPr wrap="none" lIns="0" tIns="0" rIns="0" bIns="0" rtlCol="0" anchor="t"/>
          <a:lstStyle/>
          <a:p>
            <a:pPr marL="0" indent="0" algn="l">
              <a:lnSpc>
                <a:spcPct val="104000"/>
              </a:lnSpc>
              <a:buNone/>
            </a:pPr>
            <a:r>
              <a:rPr lang="en-US" sz="4000" dirty="0">
                <a:solidFill>
                  <a:srgbClr val="F5F0F0"/>
                </a:solidFill>
                <a:latin typeface="Merriweather" pitchFamily="34" charset="0"/>
                <a:ea typeface="Merriweather" pitchFamily="34" charset="-122"/>
                <a:cs typeface="Merriweather" pitchFamily="34" charset="-120"/>
              </a:rPr>
              <a:t>Key Advantages</a:t>
            </a:r>
            <a:endParaRPr lang="en-US" sz="4000" dirty="0"/>
          </a:p>
        </p:txBody>
      </p:sp>
      <p:sp>
        <p:nvSpPr>
          <p:cNvPr id="3" name="Shape 1"/>
          <p:cNvSpPr/>
          <p:nvPr/>
        </p:nvSpPr>
        <p:spPr>
          <a:xfrm>
            <a:off x="719814" y="2774950"/>
            <a:ext cx="3446872" cy="2362101"/>
          </a:xfrm>
          <a:prstGeom prst="roundRect">
            <a:avLst>
              <a:gd name="adj" fmla="val 3657"/>
            </a:avLst>
          </a:prstGeom>
          <a:solidFill>
            <a:srgbClr val="003180"/>
          </a:solidFill>
          <a:ln w="12700">
            <a:solidFill>
              <a:srgbClr val="194A99"/>
            </a:solidFill>
            <a:prstDash val="solid"/>
          </a:ln>
        </p:spPr>
      </p:sp>
      <p:sp>
        <p:nvSpPr>
          <p:cNvPr id="4" name="Shape 2"/>
          <p:cNvSpPr/>
          <p:nvPr/>
        </p:nvSpPr>
        <p:spPr>
          <a:xfrm>
            <a:off x="938189" y="2993330"/>
            <a:ext cx="617026" cy="617041"/>
          </a:xfrm>
          <a:prstGeom prst="ellipse">
            <a:avLst/>
          </a:prstGeom>
          <a:solidFill>
            <a:srgbClr val="609DFF"/>
          </a:solidFill>
          <a:ln/>
        </p:spPr>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07849" y="3162995"/>
            <a:ext cx="277607" cy="277614"/>
          </a:xfrm>
          <a:prstGeom prst="rect">
            <a:avLst/>
          </a:prstGeom>
        </p:spPr>
      </p:pic>
      <p:sp>
        <p:nvSpPr>
          <p:cNvPr id="6" name="Text 3"/>
          <p:cNvSpPr/>
          <p:nvPr/>
        </p:nvSpPr>
        <p:spPr>
          <a:xfrm>
            <a:off x="938189" y="3816052"/>
            <a:ext cx="3010122" cy="321270"/>
          </a:xfrm>
          <a:prstGeom prst="rect">
            <a:avLst/>
          </a:prstGeom>
          <a:noFill/>
          <a:ln/>
        </p:spPr>
        <p:txBody>
          <a:bodyPr wrap="none" lIns="0" tIns="0" rIns="0" bIns="0" rtlCol="0" anchor="t"/>
          <a:lstStyle/>
          <a:p>
            <a:pPr marL="0" indent="0" algn="l">
              <a:lnSpc>
                <a:spcPct val="104000"/>
              </a:lnSpc>
              <a:buNone/>
            </a:pPr>
            <a:r>
              <a:rPr lang="en-US" sz="2000" dirty="0">
                <a:solidFill>
                  <a:srgbClr val="E2E6E9"/>
                </a:solidFill>
                <a:latin typeface="Merriweather" pitchFamily="34" charset="0"/>
                <a:ea typeface="Merriweather" pitchFamily="34" charset="-122"/>
                <a:cs typeface="Merriweather" pitchFamily="34" charset="-120"/>
              </a:rPr>
              <a:t>Bidirectional</a:t>
            </a:r>
            <a:endParaRPr lang="en-US" sz="2000" dirty="0"/>
          </a:p>
        </p:txBody>
      </p:sp>
      <p:sp>
        <p:nvSpPr>
          <p:cNvPr id="7" name="Text 4"/>
          <p:cNvSpPr/>
          <p:nvPr/>
        </p:nvSpPr>
        <p:spPr>
          <a:xfrm>
            <a:off x="938189" y="4260652"/>
            <a:ext cx="3010122" cy="658019"/>
          </a:xfrm>
          <a:prstGeom prst="rect">
            <a:avLst/>
          </a:prstGeom>
          <a:noFill/>
          <a:ln/>
        </p:spPr>
        <p:txBody>
          <a:bodyPr wrap="square" lIns="0" tIns="0" rIns="0" bIns="0" rtlCol="0" anchor="t">
            <a:normAutofit/>
          </a:bodyPr>
          <a:lstStyle/>
          <a:p>
            <a:pPr marL="0" indent="0" algn="l">
              <a:lnSpc>
                <a:spcPct val="133000"/>
              </a:lnSpc>
              <a:buNone/>
            </a:pPr>
            <a:r>
              <a:rPr lang="en-US" sz="1600" dirty="0">
                <a:solidFill>
                  <a:srgbClr val="E2E6E9"/>
                </a:solidFill>
                <a:latin typeface="Merriweather" pitchFamily="34" charset="0"/>
                <a:ea typeface="Merriweather" pitchFamily="34" charset="-122"/>
                <a:cs typeface="Merriweather" pitchFamily="34" charset="-120"/>
              </a:rPr>
              <a:t>Shift left or right in a single circuit</a:t>
            </a:r>
            <a:endParaRPr lang="en-US" sz="1600" dirty="0"/>
          </a:p>
        </p:txBody>
      </p:sp>
      <p:sp>
        <p:nvSpPr>
          <p:cNvPr id="8" name="Shape 5"/>
          <p:cNvSpPr/>
          <p:nvPr/>
        </p:nvSpPr>
        <p:spPr>
          <a:xfrm>
            <a:off x="4372362" y="2774950"/>
            <a:ext cx="3446872" cy="2362101"/>
          </a:xfrm>
          <a:prstGeom prst="roundRect">
            <a:avLst>
              <a:gd name="adj" fmla="val 3657"/>
            </a:avLst>
          </a:prstGeom>
          <a:solidFill>
            <a:srgbClr val="003180"/>
          </a:solidFill>
          <a:ln w="12700">
            <a:solidFill>
              <a:srgbClr val="194A99"/>
            </a:solidFill>
            <a:prstDash val="solid"/>
          </a:ln>
        </p:spPr>
      </p:sp>
      <p:sp>
        <p:nvSpPr>
          <p:cNvPr id="9" name="Shape 6"/>
          <p:cNvSpPr/>
          <p:nvPr/>
        </p:nvSpPr>
        <p:spPr>
          <a:xfrm>
            <a:off x="4590737" y="2993330"/>
            <a:ext cx="617026" cy="617041"/>
          </a:xfrm>
          <a:prstGeom prst="ellipse">
            <a:avLst/>
          </a:prstGeom>
          <a:solidFill>
            <a:srgbClr val="609DFF"/>
          </a:solidFill>
          <a:ln/>
        </p:spPr>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60397" y="3162995"/>
            <a:ext cx="277607" cy="277614"/>
          </a:xfrm>
          <a:prstGeom prst="rect">
            <a:avLst/>
          </a:prstGeom>
        </p:spPr>
      </p:pic>
      <p:sp>
        <p:nvSpPr>
          <p:cNvPr id="11" name="Text 7"/>
          <p:cNvSpPr/>
          <p:nvPr/>
        </p:nvSpPr>
        <p:spPr>
          <a:xfrm>
            <a:off x="4590737" y="3816052"/>
            <a:ext cx="3010122" cy="321270"/>
          </a:xfrm>
          <a:prstGeom prst="rect">
            <a:avLst/>
          </a:prstGeom>
          <a:noFill/>
          <a:ln/>
        </p:spPr>
        <p:txBody>
          <a:bodyPr wrap="none" lIns="0" tIns="0" rIns="0" bIns="0" rtlCol="0" anchor="t"/>
          <a:lstStyle/>
          <a:p>
            <a:pPr marL="0" indent="0" algn="l">
              <a:lnSpc>
                <a:spcPct val="104000"/>
              </a:lnSpc>
              <a:buNone/>
            </a:pPr>
            <a:r>
              <a:rPr lang="en-US" sz="2000" dirty="0">
                <a:solidFill>
                  <a:srgbClr val="E2E6E9"/>
                </a:solidFill>
                <a:latin typeface="Merriweather" pitchFamily="34" charset="0"/>
                <a:ea typeface="Merriweather" pitchFamily="34" charset="-122"/>
                <a:cs typeface="Merriweather" pitchFamily="34" charset="-120"/>
              </a:rPr>
              <a:t>Parallel I/O</a:t>
            </a:r>
            <a:endParaRPr lang="en-US" sz="2000" dirty="0"/>
          </a:p>
        </p:txBody>
      </p:sp>
      <p:sp>
        <p:nvSpPr>
          <p:cNvPr id="12" name="Text 8"/>
          <p:cNvSpPr/>
          <p:nvPr/>
        </p:nvSpPr>
        <p:spPr>
          <a:xfrm>
            <a:off x="4590737" y="4260652"/>
            <a:ext cx="3010122" cy="658019"/>
          </a:xfrm>
          <a:prstGeom prst="rect">
            <a:avLst/>
          </a:prstGeom>
          <a:noFill/>
          <a:ln/>
        </p:spPr>
        <p:txBody>
          <a:bodyPr wrap="square" lIns="0" tIns="0" rIns="0" bIns="0" rtlCol="0" anchor="t">
            <a:normAutofit/>
          </a:bodyPr>
          <a:lstStyle/>
          <a:p>
            <a:pPr marL="0" indent="0" algn="l">
              <a:lnSpc>
                <a:spcPct val="133000"/>
              </a:lnSpc>
              <a:buNone/>
            </a:pPr>
            <a:r>
              <a:rPr lang="en-US" sz="1600" dirty="0">
                <a:solidFill>
                  <a:srgbClr val="E2E6E9"/>
                </a:solidFill>
                <a:latin typeface="Merriweather" pitchFamily="34" charset="0"/>
                <a:ea typeface="Merriweather" pitchFamily="34" charset="-122"/>
                <a:cs typeface="Merriweather" pitchFamily="34" charset="-120"/>
              </a:rPr>
              <a:t>Load or read all 4 bits simultaneously</a:t>
            </a:r>
            <a:endParaRPr lang="en-US" sz="1600" dirty="0"/>
          </a:p>
        </p:txBody>
      </p:sp>
      <p:sp>
        <p:nvSpPr>
          <p:cNvPr id="13" name="Shape 9"/>
          <p:cNvSpPr/>
          <p:nvPr/>
        </p:nvSpPr>
        <p:spPr>
          <a:xfrm>
            <a:off x="8024909" y="2774950"/>
            <a:ext cx="3446872" cy="2362101"/>
          </a:xfrm>
          <a:prstGeom prst="roundRect">
            <a:avLst>
              <a:gd name="adj" fmla="val 3657"/>
            </a:avLst>
          </a:prstGeom>
          <a:solidFill>
            <a:srgbClr val="003180"/>
          </a:solidFill>
          <a:ln w="12700">
            <a:solidFill>
              <a:srgbClr val="194A99"/>
            </a:solidFill>
            <a:prstDash val="solid"/>
          </a:ln>
        </p:spPr>
      </p:sp>
      <p:sp>
        <p:nvSpPr>
          <p:cNvPr id="14" name="Shape 10"/>
          <p:cNvSpPr/>
          <p:nvPr/>
        </p:nvSpPr>
        <p:spPr>
          <a:xfrm>
            <a:off x="8243284" y="2993330"/>
            <a:ext cx="617026" cy="617041"/>
          </a:xfrm>
          <a:prstGeom prst="ellipse">
            <a:avLst/>
          </a:prstGeom>
          <a:solidFill>
            <a:srgbClr val="609DFF"/>
          </a:solidFill>
          <a:ln/>
        </p:spPr>
      </p:sp>
      <p:pic>
        <p:nvPicPr>
          <p:cNvPr id="1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412944" y="3162995"/>
            <a:ext cx="277607" cy="277614"/>
          </a:xfrm>
          <a:prstGeom prst="rect">
            <a:avLst/>
          </a:prstGeom>
        </p:spPr>
      </p:pic>
      <p:sp>
        <p:nvSpPr>
          <p:cNvPr id="16" name="Text 11"/>
          <p:cNvSpPr/>
          <p:nvPr/>
        </p:nvSpPr>
        <p:spPr>
          <a:xfrm>
            <a:off x="8243284" y="3816052"/>
            <a:ext cx="3010122" cy="321270"/>
          </a:xfrm>
          <a:prstGeom prst="rect">
            <a:avLst/>
          </a:prstGeom>
          <a:noFill/>
          <a:ln/>
        </p:spPr>
        <p:txBody>
          <a:bodyPr wrap="none" lIns="0" tIns="0" rIns="0" bIns="0" rtlCol="0" anchor="t"/>
          <a:lstStyle/>
          <a:p>
            <a:pPr marL="0" indent="0" algn="l">
              <a:lnSpc>
                <a:spcPct val="104000"/>
              </a:lnSpc>
              <a:buNone/>
            </a:pPr>
            <a:r>
              <a:rPr lang="en-US" sz="2000" dirty="0">
                <a:solidFill>
                  <a:srgbClr val="E2E6E9"/>
                </a:solidFill>
                <a:latin typeface="Merriweather" pitchFamily="34" charset="0"/>
                <a:ea typeface="Merriweather" pitchFamily="34" charset="-122"/>
                <a:cs typeface="Merriweather" pitchFamily="34" charset="-120"/>
              </a:rPr>
              <a:t>Synchronous</a:t>
            </a:r>
            <a:endParaRPr lang="en-US" sz="2000" dirty="0"/>
          </a:p>
        </p:txBody>
      </p:sp>
      <p:sp>
        <p:nvSpPr>
          <p:cNvPr id="17" name="Text 12"/>
          <p:cNvSpPr/>
          <p:nvPr/>
        </p:nvSpPr>
        <p:spPr>
          <a:xfrm>
            <a:off x="8243284" y="4260652"/>
            <a:ext cx="3010122" cy="658019"/>
          </a:xfrm>
          <a:prstGeom prst="rect">
            <a:avLst/>
          </a:prstGeom>
          <a:noFill/>
          <a:ln/>
        </p:spPr>
        <p:txBody>
          <a:bodyPr wrap="square" lIns="0" tIns="0" rIns="0" bIns="0" rtlCol="0" anchor="t">
            <a:normAutofit/>
          </a:bodyPr>
          <a:lstStyle/>
          <a:p>
            <a:pPr marL="0" indent="0" algn="l">
              <a:lnSpc>
                <a:spcPct val="133000"/>
              </a:lnSpc>
              <a:buNone/>
            </a:pPr>
            <a:r>
              <a:rPr lang="en-US" sz="1600" dirty="0">
                <a:solidFill>
                  <a:srgbClr val="E2E6E9"/>
                </a:solidFill>
                <a:latin typeface="Merriweather" pitchFamily="34" charset="0"/>
                <a:ea typeface="Merriweather" pitchFamily="34" charset="-122"/>
                <a:cs typeface="Merriweather" pitchFamily="34" charset="-120"/>
              </a:rPr>
              <a:t>Predictable, clock-driven timing throughout</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291700" y="1102221"/>
            <a:ext cx="6180181" cy="642739"/>
          </a:xfrm>
          <a:prstGeom prst="rect">
            <a:avLst/>
          </a:prstGeom>
          <a:noFill/>
          <a:ln/>
        </p:spPr>
        <p:txBody>
          <a:bodyPr wrap="none" lIns="0" tIns="0" rIns="0" bIns="0" rtlCol="0" anchor="t"/>
          <a:lstStyle/>
          <a:p>
            <a:pPr marL="0" indent="0" algn="l">
              <a:lnSpc>
                <a:spcPct val="104000"/>
              </a:lnSpc>
              <a:buNone/>
            </a:pPr>
            <a:r>
              <a:rPr lang="en-US" sz="4000" dirty="0">
                <a:solidFill>
                  <a:srgbClr val="F5F0F0"/>
                </a:solidFill>
                <a:latin typeface="Merriweather" pitchFamily="34" charset="0"/>
                <a:ea typeface="Merriweather" pitchFamily="34" charset="-122"/>
                <a:cs typeface="Merriweather" pitchFamily="34" charset="-120"/>
              </a:rPr>
              <a:t>Applications</a:t>
            </a:r>
            <a:endParaRPr lang="en-US" sz="4000" dirty="0"/>
          </a:p>
        </p:txBody>
      </p:sp>
      <p:pic>
        <p:nvPicPr>
          <p:cNvPr id="4" name="Image 1" descr="preencoded.png"/>
          <p:cNvPicPr>
            <a:picLocks noChangeAspect="1"/>
          </p:cNvPicPr>
          <p:nvPr/>
        </p:nvPicPr>
        <p:blipFill>
          <a:blip r:embed="rId4"/>
          <a:stretch>
            <a:fillRect/>
          </a:stretch>
        </p:blipFill>
        <p:spPr>
          <a:xfrm>
            <a:off x="5291700" y="2053431"/>
            <a:ext cx="1028377" cy="1234083"/>
          </a:xfrm>
          <a:prstGeom prst="rect">
            <a:avLst/>
          </a:prstGeom>
        </p:spPr>
      </p:pic>
      <p:sp>
        <p:nvSpPr>
          <p:cNvPr id="5" name="Text 1"/>
          <p:cNvSpPr/>
          <p:nvPr/>
        </p:nvSpPr>
        <p:spPr>
          <a:xfrm>
            <a:off x="6525752" y="2259112"/>
            <a:ext cx="4946129" cy="321270"/>
          </a:xfrm>
          <a:prstGeom prst="rect">
            <a:avLst/>
          </a:prstGeom>
          <a:noFill/>
          <a:ln/>
        </p:spPr>
        <p:txBody>
          <a:bodyPr wrap="none" lIns="0" tIns="0" rIns="0" bIns="0" rtlCol="0" anchor="t"/>
          <a:lstStyle/>
          <a:p>
            <a:pPr marL="0" indent="0" algn="l">
              <a:lnSpc>
                <a:spcPct val="104000"/>
              </a:lnSpc>
              <a:buNone/>
            </a:pPr>
            <a:r>
              <a:rPr lang="en-US" sz="2000" dirty="0">
                <a:solidFill>
                  <a:srgbClr val="E2E6E9"/>
                </a:solidFill>
                <a:latin typeface="Merriweather" pitchFamily="34" charset="0"/>
                <a:ea typeface="Merriweather" pitchFamily="34" charset="-122"/>
                <a:cs typeface="Merriweather" pitchFamily="34" charset="-120"/>
              </a:rPr>
              <a:t>Data Conversion</a:t>
            </a:r>
            <a:endParaRPr lang="en-US" sz="2000" dirty="0"/>
          </a:p>
        </p:txBody>
      </p:sp>
      <p:sp>
        <p:nvSpPr>
          <p:cNvPr id="6" name="Text 2"/>
          <p:cNvSpPr/>
          <p:nvPr/>
        </p:nvSpPr>
        <p:spPr>
          <a:xfrm>
            <a:off x="6525752" y="2703711"/>
            <a:ext cx="4946129" cy="335359"/>
          </a:xfrm>
          <a:prstGeom prst="rect">
            <a:avLst/>
          </a:prstGeom>
          <a:noFill/>
          <a:ln/>
        </p:spPr>
        <p:txBody>
          <a:bodyPr wrap="none" lIns="0" tIns="0" rIns="0" bIns="0" rtlCol="0" anchor="t"/>
          <a:lstStyle/>
          <a:p>
            <a:pPr marL="0" indent="0" algn="l">
              <a:lnSpc>
                <a:spcPct val="133000"/>
              </a:lnSpc>
              <a:buNone/>
            </a:pPr>
            <a:r>
              <a:rPr lang="en-US" sz="1600" dirty="0">
                <a:solidFill>
                  <a:srgbClr val="E2E6E9"/>
                </a:solidFill>
                <a:latin typeface="Merriweather" pitchFamily="34" charset="0"/>
                <a:ea typeface="Merriweather" pitchFamily="34" charset="-122"/>
                <a:cs typeface="Merriweather" pitchFamily="34" charset="-120"/>
              </a:rPr>
              <a:t>Serial </a:t>
            </a:r>
            <a:r>
              <a:rPr lang="en-US" sz="1600" dirty="0">
                <a:solidFill>
                  <a:srgbClr val="000000"/>
                </a:solidFill>
                <a:latin typeface="Merriweather" pitchFamily="34" charset="0"/>
                <a:ea typeface="Merriweather" pitchFamily="34" charset="-122"/>
                <a:cs typeface="Merriweather" pitchFamily="34" charset="-120"/>
              </a:rPr>
              <a:t>↔</a:t>
            </a:r>
            <a:r>
              <a:rPr lang="en-US" sz="1600" dirty="0">
                <a:solidFill>
                  <a:srgbClr val="E2E6E9"/>
                </a:solidFill>
                <a:latin typeface="Merriweather" pitchFamily="34" charset="0"/>
                <a:ea typeface="Merriweather" pitchFamily="34" charset="-122"/>
                <a:cs typeface="Merriweather" pitchFamily="34" charset="-120"/>
              </a:rPr>
              <a:t> Parallel</a:t>
            </a:r>
            <a:endParaRPr lang="en-US" sz="1600" dirty="0"/>
          </a:p>
        </p:txBody>
      </p:sp>
      <p:pic>
        <p:nvPicPr>
          <p:cNvPr id="7" name="Image 2" descr="preencoded.png"/>
          <p:cNvPicPr>
            <a:picLocks noChangeAspect="1"/>
          </p:cNvPicPr>
          <p:nvPr/>
        </p:nvPicPr>
        <p:blipFill>
          <a:blip r:embed="rId5"/>
          <a:stretch>
            <a:fillRect/>
          </a:stretch>
        </p:blipFill>
        <p:spPr>
          <a:xfrm>
            <a:off x="5291700" y="3287514"/>
            <a:ext cx="1028377" cy="1234083"/>
          </a:xfrm>
          <a:prstGeom prst="rect">
            <a:avLst/>
          </a:prstGeom>
        </p:spPr>
      </p:pic>
      <p:sp>
        <p:nvSpPr>
          <p:cNvPr id="8" name="Text 3"/>
          <p:cNvSpPr/>
          <p:nvPr/>
        </p:nvSpPr>
        <p:spPr>
          <a:xfrm>
            <a:off x="6525752" y="3493195"/>
            <a:ext cx="4946129" cy="321270"/>
          </a:xfrm>
          <a:prstGeom prst="rect">
            <a:avLst/>
          </a:prstGeom>
          <a:noFill/>
          <a:ln/>
        </p:spPr>
        <p:txBody>
          <a:bodyPr wrap="none" lIns="0" tIns="0" rIns="0" bIns="0" rtlCol="0" anchor="t"/>
          <a:lstStyle/>
          <a:p>
            <a:pPr marL="0" indent="0" algn="l">
              <a:lnSpc>
                <a:spcPct val="104000"/>
              </a:lnSpc>
              <a:buNone/>
            </a:pPr>
            <a:r>
              <a:rPr lang="en-US" sz="2000" dirty="0">
                <a:solidFill>
                  <a:srgbClr val="E2E6E9"/>
                </a:solidFill>
                <a:latin typeface="Merriweather" pitchFamily="34" charset="0"/>
                <a:ea typeface="Merriweather" pitchFamily="34" charset="-122"/>
                <a:cs typeface="Merriweather" pitchFamily="34" charset="-120"/>
              </a:rPr>
              <a:t>CPU Memory</a:t>
            </a:r>
            <a:endParaRPr lang="en-US" sz="2000" dirty="0"/>
          </a:p>
        </p:txBody>
      </p:sp>
      <p:sp>
        <p:nvSpPr>
          <p:cNvPr id="9" name="Text 4"/>
          <p:cNvSpPr/>
          <p:nvPr/>
        </p:nvSpPr>
        <p:spPr>
          <a:xfrm>
            <a:off x="6525752" y="3937794"/>
            <a:ext cx="4946129" cy="329009"/>
          </a:xfrm>
          <a:prstGeom prst="rect">
            <a:avLst/>
          </a:prstGeom>
          <a:noFill/>
          <a:ln/>
        </p:spPr>
        <p:txBody>
          <a:bodyPr wrap="none" lIns="0" tIns="0" rIns="0" bIns="0" rtlCol="0" anchor="t"/>
          <a:lstStyle/>
          <a:p>
            <a:pPr marL="0" indent="0" algn="l">
              <a:lnSpc>
                <a:spcPct val="133000"/>
              </a:lnSpc>
              <a:buNone/>
            </a:pPr>
            <a:r>
              <a:rPr lang="en-US" sz="1600" dirty="0">
                <a:solidFill>
                  <a:srgbClr val="E2E6E9"/>
                </a:solidFill>
                <a:latin typeface="Merriweather" pitchFamily="34" charset="0"/>
                <a:ea typeface="Merriweather" pitchFamily="34" charset="-122"/>
                <a:cs typeface="Merriweather" pitchFamily="34" charset="-120"/>
              </a:rPr>
              <a:t>Registers inside processors</a:t>
            </a:r>
            <a:endParaRPr lang="en-US" sz="1600" dirty="0"/>
          </a:p>
        </p:txBody>
      </p:sp>
      <p:pic>
        <p:nvPicPr>
          <p:cNvPr id="10" name="Image 3" descr="preencoded.png"/>
          <p:cNvPicPr>
            <a:picLocks noChangeAspect="1"/>
          </p:cNvPicPr>
          <p:nvPr/>
        </p:nvPicPr>
        <p:blipFill>
          <a:blip r:embed="rId6"/>
          <a:stretch>
            <a:fillRect/>
          </a:stretch>
        </p:blipFill>
        <p:spPr>
          <a:xfrm>
            <a:off x="5291700" y="4521597"/>
            <a:ext cx="1028377" cy="1234083"/>
          </a:xfrm>
          <a:prstGeom prst="rect">
            <a:avLst/>
          </a:prstGeom>
        </p:spPr>
      </p:pic>
      <p:sp>
        <p:nvSpPr>
          <p:cNvPr id="11" name="Text 5"/>
          <p:cNvSpPr/>
          <p:nvPr/>
        </p:nvSpPr>
        <p:spPr>
          <a:xfrm>
            <a:off x="6525752" y="4727277"/>
            <a:ext cx="4946129" cy="321270"/>
          </a:xfrm>
          <a:prstGeom prst="rect">
            <a:avLst/>
          </a:prstGeom>
          <a:noFill/>
          <a:ln/>
        </p:spPr>
        <p:txBody>
          <a:bodyPr wrap="none" lIns="0" tIns="0" rIns="0" bIns="0" rtlCol="0" anchor="t"/>
          <a:lstStyle/>
          <a:p>
            <a:pPr marL="0" indent="0" algn="l">
              <a:lnSpc>
                <a:spcPct val="104000"/>
              </a:lnSpc>
              <a:buNone/>
            </a:pPr>
            <a:r>
              <a:rPr lang="en-US" sz="2000" dirty="0">
                <a:solidFill>
                  <a:srgbClr val="E2E6E9"/>
                </a:solidFill>
                <a:latin typeface="Merriweather" pitchFamily="34" charset="0"/>
                <a:ea typeface="Merriweather" pitchFamily="34" charset="-122"/>
                <a:cs typeface="Merriweather" pitchFamily="34" charset="-120"/>
              </a:rPr>
              <a:t>Signal Processing</a:t>
            </a:r>
            <a:endParaRPr lang="en-US" sz="2000" dirty="0"/>
          </a:p>
        </p:txBody>
      </p:sp>
      <p:sp>
        <p:nvSpPr>
          <p:cNvPr id="12" name="Text 6"/>
          <p:cNvSpPr/>
          <p:nvPr/>
        </p:nvSpPr>
        <p:spPr>
          <a:xfrm>
            <a:off x="6525752" y="5171877"/>
            <a:ext cx="4946129" cy="329009"/>
          </a:xfrm>
          <a:prstGeom prst="rect">
            <a:avLst/>
          </a:prstGeom>
          <a:noFill/>
          <a:ln/>
        </p:spPr>
        <p:txBody>
          <a:bodyPr wrap="none" lIns="0" tIns="0" rIns="0" bIns="0" rtlCol="0" anchor="t"/>
          <a:lstStyle/>
          <a:p>
            <a:pPr marL="0" indent="0" algn="l">
              <a:lnSpc>
                <a:spcPct val="133000"/>
              </a:lnSpc>
              <a:buNone/>
            </a:pPr>
            <a:r>
              <a:rPr lang="en-US" sz="1600" dirty="0">
                <a:solidFill>
                  <a:srgbClr val="E2E6E9"/>
                </a:solidFill>
                <a:latin typeface="Merriweather" pitchFamily="34" charset="0"/>
                <a:ea typeface="Merriweather" pitchFamily="34" charset="-122"/>
                <a:cs typeface="Merriweather" pitchFamily="34" charset="-120"/>
              </a:rPr>
              <a:t>Digital filters &amp; pipelines</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117930" y="154543"/>
            <a:ext cx="10752067" cy="321270"/>
          </a:xfrm>
          <a:prstGeom prst="rect">
            <a:avLst/>
          </a:prstGeom>
          <a:noFill/>
          <a:ln/>
        </p:spPr>
        <p:txBody>
          <a:bodyPr wrap="none" lIns="0" tIns="0" rIns="0" bIns="0" rtlCol="0" anchor="t"/>
          <a:lstStyle/>
          <a:p>
            <a:pPr marL="0" indent="0" algn="l">
              <a:lnSpc>
                <a:spcPct val="104000"/>
              </a:lnSpc>
              <a:buNone/>
            </a:pPr>
            <a:r>
              <a:rPr lang="en-US" sz="2000" dirty="0">
                <a:solidFill>
                  <a:srgbClr val="F5F0F0"/>
                </a:solidFill>
                <a:latin typeface="Merriweather" pitchFamily="34" charset="0"/>
                <a:ea typeface="Merriweather" pitchFamily="34" charset="-122"/>
                <a:cs typeface="Merriweather" pitchFamily="34" charset="-120"/>
              </a:rPr>
              <a:t>Results &amp; Discussion</a:t>
            </a:r>
            <a:endParaRPr lang="en-US" sz="2000" dirty="0"/>
          </a:p>
        </p:txBody>
      </p:sp>
      <p:sp>
        <p:nvSpPr>
          <p:cNvPr id="3" name="Text 1"/>
          <p:cNvSpPr/>
          <p:nvPr/>
        </p:nvSpPr>
        <p:spPr>
          <a:xfrm>
            <a:off x="117930" y="578604"/>
            <a:ext cx="10752067" cy="246856"/>
          </a:xfrm>
          <a:prstGeom prst="rect">
            <a:avLst/>
          </a:prstGeom>
          <a:noFill/>
          <a:ln/>
        </p:spPr>
        <p:txBody>
          <a:bodyPr wrap="square" lIns="0" tIns="0" rIns="0" bIns="0" rtlCol="0" anchor="t">
            <a:noAutofit/>
          </a:bodyPr>
          <a:lstStyle/>
          <a:p>
            <a:pPr marL="0" indent="0" algn="l">
              <a:lnSpc>
                <a:spcPct val="100000"/>
              </a:lnSpc>
              <a:buNone/>
            </a:pPr>
            <a:r>
              <a:rPr lang="en-US" sz="1100" dirty="0">
                <a:solidFill>
                  <a:srgbClr val="E2E6E9"/>
                </a:solidFill>
                <a:latin typeface="Merriweather" pitchFamily="34" charset="0"/>
                <a:ea typeface="Merriweather" pitchFamily="34" charset="-122"/>
                <a:cs typeface="Merriweather" pitchFamily="34" charset="-120"/>
              </a:rPr>
              <a:t>Our 4-bit universal shift register design was rigorously tested through comprehensive simulation, confirming its functionality across all operating modes. This section presents the truth tables, key simulation outputs, and discusses the overall performance and verification against our design objectives.</a:t>
            </a:r>
            <a:endParaRPr lang="en-US" sz="1100" dirty="0"/>
          </a:p>
        </p:txBody>
      </p:sp>
      <p:sp>
        <p:nvSpPr>
          <p:cNvPr id="4" name="Text 2"/>
          <p:cNvSpPr/>
          <p:nvPr/>
        </p:nvSpPr>
        <p:spPr>
          <a:xfrm>
            <a:off x="0" y="928251"/>
            <a:ext cx="10752067" cy="257076"/>
          </a:xfrm>
          <a:prstGeom prst="rect">
            <a:avLst/>
          </a:prstGeom>
          <a:noFill/>
          <a:ln/>
        </p:spPr>
        <p:txBody>
          <a:bodyPr wrap="none" lIns="0" tIns="0" rIns="0" bIns="0" rtlCol="0" anchor="t"/>
          <a:lstStyle/>
          <a:p>
            <a:pPr marL="0" indent="0" algn="l">
              <a:lnSpc>
                <a:spcPct val="104000"/>
              </a:lnSpc>
              <a:buNone/>
            </a:pPr>
            <a:r>
              <a:rPr lang="en-US" sz="1600" dirty="0">
                <a:solidFill>
                  <a:srgbClr val="F5F0F0"/>
                </a:solidFill>
                <a:latin typeface="Merriweather" pitchFamily="34" charset="0"/>
                <a:ea typeface="Merriweather" pitchFamily="34" charset="-122"/>
                <a:cs typeface="Merriweather" pitchFamily="34" charset="-120"/>
              </a:rPr>
              <a:t>Operating Modes Truth Table</a:t>
            </a:r>
            <a:endParaRPr lang="en-US" sz="1600" dirty="0"/>
          </a:p>
        </p:txBody>
      </p:sp>
      <p:graphicFrame>
        <p:nvGraphicFramePr>
          <p:cNvPr id="15" name="Table 0"/>
          <p:cNvGraphicFramePr>
            <a:graphicFrameLocks noGrp="1"/>
          </p:cNvGraphicFramePr>
          <p:nvPr>
            <p:extLst>
              <p:ext uri="{D42A27DB-BD31-4B8C-83A1-F6EECF244321}">
                <p14:modId xmlns:p14="http://schemas.microsoft.com/office/powerpoint/2010/main" val="3830819533"/>
              </p:ext>
            </p:extLst>
          </p:nvPr>
        </p:nvGraphicFramePr>
        <p:xfrm>
          <a:off x="230259" y="1377060"/>
          <a:ext cx="10752066" cy="4425331"/>
        </p:xfrm>
        <a:graphic>
          <a:graphicData uri="http://schemas.openxmlformats.org/drawingml/2006/table">
            <a:tbl>
              <a:tblPr/>
              <a:tblGrid>
                <a:gridCol w="2150413">
                  <a:extLst>
                    <a:ext uri="{9D8B030D-6E8A-4147-A177-3AD203B41FA5}">
                      <a16:colId xmlns:a16="http://schemas.microsoft.com/office/drawing/2014/main" val="20000"/>
                    </a:ext>
                  </a:extLst>
                </a:gridCol>
                <a:gridCol w="2150413">
                  <a:extLst>
                    <a:ext uri="{9D8B030D-6E8A-4147-A177-3AD203B41FA5}">
                      <a16:colId xmlns:a16="http://schemas.microsoft.com/office/drawing/2014/main" val="20001"/>
                    </a:ext>
                  </a:extLst>
                </a:gridCol>
                <a:gridCol w="3225620">
                  <a:extLst>
                    <a:ext uri="{9D8B030D-6E8A-4147-A177-3AD203B41FA5}">
                      <a16:colId xmlns:a16="http://schemas.microsoft.com/office/drawing/2014/main" val="20002"/>
                    </a:ext>
                  </a:extLst>
                </a:gridCol>
                <a:gridCol w="3225620">
                  <a:extLst>
                    <a:ext uri="{9D8B030D-6E8A-4147-A177-3AD203B41FA5}">
                      <a16:colId xmlns:a16="http://schemas.microsoft.com/office/drawing/2014/main" val="20003"/>
                    </a:ext>
                  </a:extLst>
                </a:gridCol>
              </a:tblGrid>
              <a:tr h="331502">
                <a:tc>
                  <a:txBody>
                    <a:bodyPr/>
                    <a:lstStyle/>
                    <a:p>
                      <a:pPr marL="0" indent="0">
                        <a:buNone/>
                      </a:pPr>
                      <a:r>
                        <a:rPr lang="en-US" sz="800" b="1" dirty="0">
                          <a:solidFill>
                            <a:srgbClr val="272525"/>
                          </a:solidFill>
                          <a:latin typeface="Merriweather" pitchFamily="34" charset="0"/>
                          <a:ea typeface="Merriweather" pitchFamily="34" charset="-122"/>
                          <a:cs typeface="Merriweather" pitchFamily="34" charset="-120"/>
                        </a:rPr>
                        <a:t>S1</a:t>
                      </a:r>
                      <a:endParaRPr lang="en-US" sz="800" dirty="0">
                        <a:latin typeface="Merriweather" charset="0"/>
                        <a:ea typeface="Merriweather" charset="0"/>
                        <a:cs typeface="Merriweather" charset="0"/>
                      </a:endParaRPr>
                    </a:p>
                  </a:txBody>
                  <a:tcPr marL="102844" marR="102844" marT="6350" marB="6350" anchor="ctr">
                    <a:lnL w="12700" cap="flat" cmpd="sng" algn="ctr">
                      <a:solidFill>
                        <a:srgbClr val="194A99"/>
                      </a:solidFill>
                      <a:prstDash val="solid"/>
                      <a:round/>
                      <a:headEnd type="none" w="med" len="med"/>
                      <a:tailEnd type="none" w="med" len="med"/>
                    </a:lnL>
                    <a:lnR w="12700" cap="flat" cmpd="sng" algn="ctr">
                      <a:solidFill>
                        <a:srgbClr val="194A99"/>
                      </a:solidFill>
                      <a:prstDash val="solid"/>
                      <a:round/>
                      <a:headEnd type="none" w="med" len="med"/>
                      <a:tailEnd type="none" w="med" len="med"/>
                    </a:lnR>
                    <a:lnT w="12700" cap="flat" cmpd="sng" algn="ctr">
                      <a:solidFill>
                        <a:srgbClr val="194A99"/>
                      </a:solidFill>
                      <a:prstDash val="solid"/>
                      <a:round/>
                      <a:headEnd type="none" w="med" len="med"/>
                      <a:tailEnd type="none" w="med" len="med"/>
                    </a:lnT>
                    <a:lnB w="12700" cap="flat" cmpd="sng" algn="ctr">
                      <a:solidFill>
                        <a:srgbClr val="194A99"/>
                      </a:solidFill>
                      <a:prstDash val="solid"/>
                      <a:round/>
                      <a:headEnd type="none" w="med" len="med"/>
                      <a:tailEnd type="none" w="med" len="med"/>
                    </a:lnB>
                    <a:solidFill>
                      <a:srgbClr val="F2F2F2"/>
                    </a:solidFill>
                  </a:tcPr>
                </a:tc>
                <a:tc>
                  <a:txBody>
                    <a:bodyPr/>
                    <a:lstStyle/>
                    <a:p>
                      <a:pPr marL="0" indent="0">
                        <a:buNone/>
                      </a:pPr>
                      <a:r>
                        <a:rPr lang="en-US" sz="800" b="1" dirty="0">
                          <a:solidFill>
                            <a:srgbClr val="272525"/>
                          </a:solidFill>
                          <a:latin typeface="Merriweather" pitchFamily="34" charset="0"/>
                          <a:ea typeface="Merriweather" pitchFamily="34" charset="-122"/>
                          <a:cs typeface="Merriweather" pitchFamily="34" charset="-120"/>
                        </a:rPr>
                        <a:t>S0</a:t>
                      </a:r>
                      <a:endParaRPr lang="en-US" sz="800" dirty="0">
                        <a:latin typeface="Merriweather" charset="0"/>
                        <a:ea typeface="Merriweather" charset="0"/>
                        <a:cs typeface="Merriweather" charset="0"/>
                      </a:endParaRPr>
                    </a:p>
                  </a:txBody>
                  <a:tcPr marL="102844" marR="102844" marT="6350" marB="6350" anchor="ctr">
                    <a:lnL w="12700" cap="flat" cmpd="sng" algn="ctr">
                      <a:solidFill>
                        <a:srgbClr val="194A99"/>
                      </a:solidFill>
                      <a:prstDash val="solid"/>
                      <a:round/>
                      <a:headEnd type="none" w="med" len="med"/>
                      <a:tailEnd type="none" w="med" len="med"/>
                    </a:lnL>
                    <a:lnR w="12700" cap="flat" cmpd="sng" algn="ctr">
                      <a:solidFill>
                        <a:srgbClr val="194A99"/>
                      </a:solidFill>
                      <a:prstDash val="solid"/>
                      <a:round/>
                      <a:headEnd type="none" w="med" len="med"/>
                      <a:tailEnd type="none" w="med" len="med"/>
                    </a:lnR>
                    <a:lnT w="12700" cap="flat" cmpd="sng" algn="ctr">
                      <a:solidFill>
                        <a:srgbClr val="194A99"/>
                      </a:solidFill>
                      <a:prstDash val="solid"/>
                      <a:round/>
                      <a:headEnd type="none" w="med" len="med"/>
                      <a:tailEnd type="none" w="med" len="med"/>
                    </a:lnT>
                    <a:lnB w="12700" cap="flat" cmpd="sng" algn="ctr">
                      <a:solidFill>
                        <a:srgbClr val="194A99"/>
                      </a:solidFill>
                      <a:prstDash val="solid"/>
                      <a:round/>
                      <a:headEnd type="none" w="med" len="med"/>
                      <a:tailEnd type="none" w="med" len="med"/>
                    </a:lnB>
                    <a:solidFill>
                      <a:srgbClr val="F2F2F2"/>
                    </a:solidFill>
                  </a:tcPr>
                </a:tc>
                <a:tc>
                  <a:txBody>
                    <a:bodyPr/>
                    <a:lstStyle/>
                    <a:p>
                      <a:pPr marL="0" indent="0">
                        <a:buNone/>
                      </a:pPr>
                      <a:r>
                        <a:rPr lang="en-US" sz="800" b="1" dirty="0">
                          <a:solidFill>
                            <a:srgbClr val="272525"/>
                          </a:solidFill>
                          <a:latin typeface="Merriweather" pitchFamily="34" charset="0"/>
                          <a:ea typeface="Merriweather" pitchFamily="34" charset="-122"/>
                          <a:cs typeface="Merriweather" pitchFamily="34" charset="-120"/>
                        </a:rPr>
                        <a:t>Mode</a:t>
                      </a:r>
                      <a:endParaRPr lang="en-US" sz="800" dirty="0">
                        <a:latin typeface="Merriweather" charset="0"/>
                        <a:ea typeface="Merriweather" charset="0"/>
                        <a:cs typeface="Merriweather" charset="0"/>
                      </a:endParaRPr>
                    </a:p>
                  </a:txBody>
                  <a:tcPr marL="102844" marR="102844" marT="6350" marB="6350" anchor="ctr">
                    <a:lnL w="12700" cap="flat" cmpd="sng" algn="ctr">
                      <a:solidFill>
                        <a:srgbClr val="194A99"/>
                      </a:solidFill>
                      <a:prstDash val="solid"/>
                      <a:round/>
                      <a:headEnd type="none" w="med" len="med"/>
                      <a:tailEnd type="none" w="med" len="med"/>
                    </a:lnL>
                    <a:lnR w="12700" cap="flat" cmpd="sng" algn="ctr">
                      <a:solidFill>
                        <a:srgbClr val="194A99"/>
                      </a:solidFill>
                      <a:prstDash val="solid"/>
                      <a:round/>
                      <a:headEnd type="none" w="med" len="med"/>
                      <a:tailEnd type="none" w="med" len="med"/>
                    </a:lnR>
                    <a:lnT w="12700" cap="flat" cmpd="sng" algn="ctr">
                      <a:solidFill>
                        <a:srgbClr val="194A99"/>
                      </a:solidFill>
                      <a:prstDash val="solid"/>
                      <a:round/>
                      <a:headEnd type="none" w="med" len="med"/>
                      <a:tailEnd type="none" w="med" len="med"/>
                    </a:lnT>
                    <a:lnB w="12700" cap="flat" cmpd="sng" algn="ctr">
                      <a:solidFill>
                        <a:srgbClr val="194A99"/>
                      </a:solidFill>
                      <a:prstDash val="solid"/>
                      <a:round/>
                      <a:headEnd type="none" w="med" len="med"/>
                      <a:tailEnd type="none" w="med" len="med"/>
                    </a:lnB>
                    <a:solidFill>
                      <a:srgbClr val="F2F2F2"/>
                    </a:solidFill>
                  </a:tcPr>
                </a:tc>
                <a:tc>
                  <a:txBody>
                    <a:bodyPr/>
                    <a:lstStyle/>
                    <a:p>
                      <a:pPr marL="0" indent="0">
                        <a:buNone/>
                      </a:pPr>
                      <a:r>
                        <a:rPr lang="en-US" sz="800" b="1" dirty="0">
                          <a:solidFill>
                            <a:srgbClr val="272525"/>
                          </a:solidFill>
                          <a:latin typeface="Merriweather" pitchFamily="34" charset="0"/>
                          <a:ea typeface="Merriweather" pitchFamily="34" charset="-122"/>
                          <a:cs typeface="Merriweather" pitchFamily="34" charset="-120"/>
                        </a:rPr>
                        <a:t>Operation</a:t>
                      </a:r>
                      <a:endParaRPr lang="en-US" sz="800" dirty="0">
                        <a:latin typeface="Merriweather" charset="0"/>
                        <a:ea typeface="Merriweather" charset="0"/>
                        <a:cs typeface="Merriweather" charset="0"/>
                      </a:endParaRPr>
                    </a:p>
                  </a:txBody>
                  <a:tcPr marL="102844" marR="102844" marT="6350" marB="6350" anchor="ctr">
                    <a:lnL w="12700" cap="flat" cmpd="sng" algn="ctr">
                      <a:solidFill>
                        <a:srgbClr val="194A99"/>
                      </a:solidFill>
                      <a:prstDash val="solid"/>
                      <a:round/>
                      <a:headEnd type="none" w="med" len="med"/>
                      <a:tailEnd type="none" w="med" len="med"/>
                    </a:lnL>
                    <a:lnR w="12700" cap="flat" cmpd="sng" algn="ctr">
                      <a:solidFill>
                        <a:srgbClr val="194A99"/>
                      </a:solidFill>
                      <a:prstDash val="solid"/>
                      <a:round/>
                      <a:headEnd type="none" w="med" len="med"/>
                      <a:tailEnd type="none" w="med" len="med"/>
                    </a:lnR>
                    <a:lnT w="12700" cap="flat" cmpd="sng" algn="ctr">
                      <a:solidFill>
                        <a:srgbClr val="194A99"/>
                      </a:solidFill>
                      <a:prstDash val="solid"/>
                      <a:round/>
                      <a:headEnd type="none" w="med" len="med"/>
                      <a:tailEnd type="none" w="med" len="med"/>
                    </a:lnT>
                    <a:lnB w="12700" cap="flat" cmpd="sng" algn="ctr">
                      <a:solidFill>
                        <a:srgbClr val="194A99"/>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790798">
                <a:tc>
                  <a:txBody>
                    <a:bodyPr/>
                    <a:lstStyle/>
                    <a:p>
                      <a:pPr marL="0" indent="0">
                        <a:buNone/>
                      </a:pPr>
                      <a:r>
                        <a:rPr lang="en-US" sz="800" dirty="0">
                          <a:solidFill>
                            <a:srgbClr val="E2E6E9"/>
                          </a:solidFill>
                          <a:latin typeface="Merriweather" pitchFamily="34" charset="0"/>
                          <a:ea typeface="Merriweather" pitchFamily="34" charset="-122"/>
                          <a:cs typeface="Merriweather" pitchFamily="34" charset="-120"/>
                        </a:rPr>
                        <a:t>0</a:t>
                      </a:r>
                      <a:endParaRPr lang="en-US" sz="800" dirty="0">
                        <a:latin typeface="Merriweather" charset="0"/>
                        <a:ea typeface="Merriweather" charset="0"/>
                        <a:cs typeface="Merriweather" charset="0"/>
                      </a:endParaRPr>
                    </a:p>
                  </a:txBody>
                  <a:tcPr marL="102844" marR="102844" marT="6350" marB="6350" anchor="ctr">
                    <a:lnL w="12700" cap="flat" cmpd="sng" algn="ctr">
                      <a:solidFill>
                        <a:srgbClr val="194A99"/>
                      </a:solidFill>
                      <a:prstDash val="solid"/>
                      <a:round/>
                      <a:headEnd type="none" w="med" len="med"/>
                      <a:tailEnd type="none" w="med" len="med"/>
                    </a:lnL>
                    <a:lnR w="12700" cap="flat" cmpd="sng" algn="ctr">
                      <a:solidFill>
                        <a:srgbClr val="194A99"/>
                      </a:solidFill>
                      <a:prstDash val="solid"/>
                      <a:round/>
                      <a:headEnd type="none" w="med" len="med"/>
                      <a:tailEnd type="none" w="med" len="med"/>
                    </a:lnR>
                    <a:lnT w="12700" cap="flat" cmpd="sng" algn="ctr">
                      <a:solidFill>
                        <a:srgbClr val="194A99"/>
                      </a:solidFill>
                      <a:prstDash val="solid"/>
                      <a:round/>
                      <a:headEnd type="none" w="med" len="med"/>
                      <a:tailEnd type="none" w="med" len="med"/>
                    </a:lnT>
                    <a:lnB w="12700" cap="flat" cmpd="sng" algn="ctr">
                      <a:solidFill>
                        <a:srgbClr val="194A99"/>
                      </a:solidFill>
                      <a:prstDash val="solid"/>
                      <a:round/>
                      <a:headEnd type="none" w="med" len="med"/>
                      <a:tailEnd type="none" w="med" len="med"/>
                    </a:lnB>
                  </a:tcPr>
                </a:tc>
                <a:tc>
                  <a:txBody>
                    <a:bodyPr/>
                    <a:lstStyle/>
                    <a:p>
                      <a:pPr marL="0" indent="0">
                        <a:buNone/>
                      </a:pPr>
                      <a:r>
                        <a:rPr lang="en-US" sz="800" dirty="0">
                          <a:solidFill>
                            <a:srgbClr val="E2E6E9"/>
                          </a:solidFill>
                          <a:latin typeface="Merriweather" pitchFamily="34" charset="0"/>
                          <a:ea typeface="Merriweather" pitchFamily="34" charset="-122"/>
                          <a:cs typeface="Merriweather" pitchFamily="34" charset="-120"/>
                        </a:rPr>
                        <a:t>0</a:t>
                      </a:r>
                      <a:endParaRPr lang="en-US" sz="800" dirty="0">
                        <a:latin typeface="Merriweather" charset="0"/>
                        <a:ea typeface="Merriweather" charset="0"/>
                        <a:cs typeface="Merriweather" charset="0"/>
                      </a:endParaRPr>
                    </a:p>
                  </a:txBody>
                  <a:tcPr marL="102844" marR="102844" marT="6350" marB="6350" anchor="ctr">
                    <a:lnL w="12700" cap="flat" cmpd="sng" algn="ctr">
                      <a:solidFill>
                        <a:srgbClr val="194A99"/>
                      </a:solidFill>
                      <a:prstDash val="solid"/>
                      <a:round/>
                      <a:headEnd type="none" w="med" len="med"/>
                      <a:tailEnd type="none" w="med" len="med"/>
                    </a:lnL>
                    <a:lnR w="12700" cap="flat" cmpd="sng" algn="ctr">
                      <a:solidFill>
                        <a:srgbClr val="194A99"/>
                      </a:solidFill>
                      <a:prstDash val="solid"/>
                      <a:round/>
                      <a:headEnd type="none" w="med" len="med"/>
                      <a:tailEnd type="none" w="med" len="med"/>
                    </a:lnR>
                    <a:lnT w="12700" cap="flat" cmpd="sng" algn="ctr">
                      <a:solidFill>
                        <a:srgbClr val="194A99"/>
                      </a:solidFill>
                      <a:prstDash val="solid"/>
                      <a:round/>
                      <a:headEnd type="none" w="med" len="med"/>
                      <a:tailEnd type="none" w="med" len="med"/>
                    </a:lnT>
                    <a:lnB w="12700" cap="flat" cmpd="sng" algn="ctr">
                      <a:solidFill>
                        <a:srgbClr val="194A99"/>
                      </a:solidFill>
                      <a:prstDash val="solid"/>
                      <a:round/>
                      <a:headEnd type="none" w="med" len="med"/>
                      <a:tailEnd type="none" w="med" len="med"/>
                    </a:lnB>
                  </a:tcPr>
                </a:tc>
                <a:tc>
                  <a:txBody>
                    <a:bodyPr/>
                    <a:lstStyle/>
                    <a:p>
                      <a:pPr marL="0" indent="0">
                        <a:buNone/>
                      </a:pPr>
                      <a:r>
                        <a:rPr lang="en-US" sz="800" dirty="0">
                          <a:solidFill>
                            <a:srgbClr val="E2E6E9"/>
                          </a:solidFill>
                          <a:latin typeface="Merriweather" pitchFamily="34" charset="0"/>
                          <a:ea typeface="Merriweather" pitchFamily="34" charset="-122"/>
                          <a:cs typeface="Merriweather" pitchFamily="34" charset="-120"/>
                        </a:rPr>
                        <a:t>Hold</a:t>
                      </a:r>
                      <a:endParaRPr lang="en-US" sz="800" dirty="0">
                        <a:latin typeface="Merriweather" charset="0"/>
                        <a:ea typeface="Merriweather" charset="0"/>
                        <a:cs typeface="Merriweather" charset="0"/>
                      </a:endParaRPr>
                    </a:p>
                  </a:txBody>
                  <a:tcPr marL="102844" marR="102844" marT="6350" marB="6350" anchor="ctr">
                    <a:lnL w="12700" cap="flat" cmpd="sng" algn="ctr">
                      <a:solidFill>
                        <a:srgbClr val="194A99"/>
                      </a:solidFill>
                      <a:prstDash val="solid"/>
                      <a:round/>
                      <a:headEnd type="none" w="med" len="med"/>
                      <a:tailEnd type="none" w="med" len="med"/>
                    </a:lnL>
                    <a:lnR w="12700" cap="flat" cmpd="sng" algn="ctr">
                      <a:solidFill>
                        <a:srgbClr val="194A99"/>
                      </a:solidFill>
                      <a:prstDash val="solid"/>
                      <a:round/>
                      <a:headEnd type="none" w="med" len="med"/>
                      <a:tailEnd type="none" w="med" len="med"/>
                    </a:lnR>
                    <a:lnT w="12700" cap="flat" cmpd="sng" algn="ctr">
                      <a:solidFill>
                        <a:srgbClr val="194A99"/>
                      </a:solidFill>
                      <a:prstDash val="solid"/>
                      <a:round/>
                      <a:headEnd type="none" w="med" len="med"/>
                      <a:tailEnd type="none" w="med" len="med"/>
                    </a:lnT>
                    <a:lnB w="12700" cap="flat" cmpd="sng" algn="ctr">
                      <a:solidFill>
                        <a:srgbClr val="194A99"/>
                      </a:solidFill>
                      <a:prstDash val="solid"/>
                      <a:round/>
                      <a:headEnd type="none" w="med" len="med"/>
                      <a:tailEnd type="none" w="med" len="med"/>
                    </a:lnB>
                  </a:tcPr>
                </a:tc>
                <a:tc>
                  <a:txBody>
                    <a:bodyPr/>
                    <a:lstStyle/>
                    <a:p>
                      <a:pPr marL="0" indent="0">
                        <a:buNone/>
                      </a:pPr>
                      <a:r>
                        <a:rPr lang="en-US" sz="800" dirty="0">
                          <a:solidFill>
                            <a:srgbClr val="E2E6E9"/>
                          </a:solidFill>
                          <a:latin typeface="Merriweather" pitchFamily="34" charset="0"/>
                          <a:ea typeface="Merriweather" pitchFamily="34" charset="-122"/>
                          <a:cs typeface="Merriweather" pitchFamily="34" charset="-120"/>
                        </a:rPr>
                        <a:t>No change in register contents</a:t>
                      </a:r>
                      <a:endParaRPr lang="en-US" sz="800" dirty="0">
                        <a:latin typeface="Merriweather" charset="0"/>
                        <a:ea typeface="Merriweather" charset="0"/>
                        <a:cs typeface="Merriweather" charset="0"/>
                      </a:endParaRPr>
                    </a:p>
                  </a:txBody>
                  <a:tcPr marL="102844" marR="102844" marT="6350" marB="6350" anchor="ctr">
                    <a:lnL w="12700" cap="flat" cmpd="sng" algn="ctr">
                      <a:solidFill>
                        <a:srgbClr val="194A99"/>
                      </a:solidFill>
                      <a:prstDash val="solid"/>
                      <a:round/>
                      <a:headEnd type="none" w="med" len="med"/>
                      <a:tailEnd type="none" w="med" len="med"/>
                    </a:lnL>
                    <a:lnR w="12700" cap="flat" cmpd="sng" algn="ctr">
                      <a:solidFill>
                        <a:srgbClr val="194A99"/>
                      </a:solidFill>
                      <a:prstDash val="solid"/>
                      <a:round/>
                      <a:headEnd type="none" w="med" len="med"/>
                      <a:tailEnd type="none" w="med" len="med"/>
                    </a:lnR>
                    <a:lnT w="12700" cap="flat" cmpd="sng" algn="ctr">
                      <a:solidFill>
                        <a:srgbClr val="194A99"/>
                      </a:solidFill>
                      <a:prstDash val="solid"/>
                      <a:round/>
                      <a:headEnd type="none" w="med" len="med"/>
                      <a:tailEnd type="none" w="med" len="med"/>
                    </a:lnT>
                    <a:lnB w="12700" cap="flat" cmpd="sng" algn="ctr">
                      <a:solidFill>
                        <a:srgbClr val="194A99"/>
                      </a:solidFill>
                      <a:prstDash val="solid"/>
                      <a:round/>
                      <a:headEnd type="none" w="med" len="med"/>
                      <a:tailEnd type="none" w="med" len="med"/>
                    </a:lnB>
                  </a:tcPr>
                </a:tc>
                <a:extLst>
                  <a:ext uri="{0D108BD9-81ED-4DB2-BD59-A6C34878D82A}">
                    <a16:rowId xmlns:a16="http://schemas.microsoft.com/office/drawing/2014/main" val="10001"/>
                  </a:ext>
                </a:extLst>
              </a:tr>
              <a:tr h="807789">
                <a:tc>
                  <a:txBody>
                    <a:bodyPr/>
                    <a:lstStyle/>
                    <a:p>
                      <a:pPr marL="0" indent="0">
                        <a:buNone/>
                      </a:pPr>
                      <a:r>
                        <a:rPr lang="en-US" sz="800" dirty="0">
                          <a:solidFill>
                            <a:srgbClr val="E2E6E9"/>
                          </a:solidFill>
                          <a:latin typeface="Merriweather" pitchFamily="34" charset="0"/>
                          <a:ea typeface="Merriweather" pitchFamily="34" charset="-122"/>
                          <a:cs typeface="Merriweather" pitchFamily="34" charset="-120"/>
                        </a:rPr>
                        <a:t>0</a:t>
                      </a:r>
                      <a:endParaRPr lang="en-US" sz="800" dirty="0">
                        <a:latin typeface="Merriweather" charset="0"/>
                        <a:ea typeface="Merriweather" charset="0"/>
                        <a:cs typeface="Merriweather" charset="0"/>
                      </a:endParaRPr>
                    </a:p>
                  </a:txBody>
                  <a:tcPr marL="102844" marR="102844" marT="6350" marB="6350" anchor="ctr">
                    <a:lnL w="12700" cap="flat" cmpd="sng" algn="ctr">
                      <a:solidFill>
                        <a:srgbClr val="194A99"/>
                      </a:solidFill>
                      <a:prstDash val="solid"/>
                      <a:round/>
                      <a:headEnd type="none" w="med" len="med"/>
                      <a:tailEnd type="none" w="med" len="med"/>
                    </a:lnL>
                    <a:lnR w="12700" cap="flat" cmpd="sng" algn="ctr">
                      <a:solidFill>
                        <a:srgbClr val="194A99"/>
                      </a:solidFill>
                      <a:prstDash val="solid"/>
                      <a:round/>
                      <a:headEnd type="none" w="med" len="med"/>
                      <a:tailEnd type="none" w="med" len="med"/>
                    </a:lnR>
                    <a:lnT w="12700" cap="flat" cmpd="sng" algn="ctr">
                      <a:solidFill>
                        <a:srgbClr val="194A99"/>
                      </a:solidFill>
                      <a:prstDash val="solid"/>
                      <a:round/>
                      <a:headEnd type="none" w="med" len="med"/>
                      <a:tailEnd type="none" w="med" len="med"/>
                    </a:lnT>
                    <a:lnB w="12700" cap="flat" cmpd="sng" algn="ctr">
                      <a:solidFill>
                        <a:srgbClr val="194A99"/>
                      </a:solidFill>
                      <a:prstDash val="solid"/>
                      <a:round/>
                      <a:headEnd type="none" w="med" len="med"/>
                      <a:tailEnd type="none" w="med" len="med"/>
                    </a:lnB>
                  </a:tcPr>
                </a:tc>
                <a:tc>
                  <a:txBody>
                    <a:bodyPr/>
                    <a:lstStyle/>
                    <a:p>
                      <a:pPr marL="0" indent="0">
                        <a:buNone/>
                      </a:pPr>
                      <a:r>
                        <a:rPr lang="en-US" sz="800" dirty="0">
                          <a:solidFill>
                            <a:srgbClr val="E2E6E9"/>
                          </a:solidFill>
                          <a:latin typeface="Merriweather" pitchFamily="34" charset="0"/>
                          <a:ea typeface="Merriweather" pitchFamily="34" charset="-122"/>
                          <a:cs typeface="Merriweather" pitchFamily="34" charset="-120"/>
                        </a:rPr>
                        <a:t>1</a:t>
                      </a:r>
                      <a:endParaRPr lang="en-US" sz="800" dirty="0">
                        <a:latin typeface="Merriweather" charset="0"/>
                        <a:ea typeface="Merriweather" charset="0"/>
                        <a:cs typeface="Merriweather" charset="0"/>
                      </a:endParaRPr>
                    </a:p>
                  </a:txBody>
                  <a:tcPr marL="102844" marR="102844" marT="6350" marB="6350" anchor="ctr">
                    <a:lnL w="12700" cap="flat" cmpd="sng" algn="ctr">
                      <a:solidFill>
                        <a:srgbClr val="194A99"/>
                      </a:solidFill>
                      <a:prstDash val="solid"/>
                      <a:round/>
                      <a:headEnd type="none" w="med" len="med"/>
                      <a:tailEnd type="none" w="med" len="med"/>
                    </a:lnL>
                    <a:lnR w="12700" cap="flat" cmpd="sng" algn="ctr">
                      <a:solidFill>
                        <a:srgbClr val="194A99"/>
                      </a:solidFill>
                      <a:prstDash val="solid"/>
                      <a:round/>
                      <a:headEnd type="none" w="med" len="med"/>
                      <a:tailEnd type="none" w="med" len="med"/>
                    </a:lnR>
                    <a:lnT w="12700" cap="flat" cmpd="sng" algn="ctr">
                      <a:solidFill>
                        <a:srgbClr val="194A99"/>
                      </a:solidFill>
                      <a:prstDash val="solid"/>
                      <a:round/>
                      <a:headEnd type="none" w="med" len="med"/>
                      <a:tailEnd type="none" w="med" len="med"/>
                    </a:lnT>
                    <a:lnB w="12700" cap="flat" cmpd="sng" algn="ctr">
                      <a:solidFill>
                        <a:srgbClr val="194A99"/>
                      </a:solidFill>
                      <a:prstDash val="solid"/>
                      <a:round/>
                      <a:headEnd type="none" w="med" len="med"/>
                      <a:tailEnd type="none" w="med" len="med"/>
                    </a:lnB>
                  </a:tcPr>
                </a:tc>
                <a:tc>
                  <a:txBody>
                    <a:bodyPr/>
                    <a:lstStyle/>
                    <a:p>
                      <a:pPr marL="0" indent="0">
                        <a:buNone/>
                      </a:pPr>
                      <a:r>
                        <a:rPr lang="en-US" sz="800" dirty="0">
                          <a:solidFill>
                            <a:srgbClr val="E2E6E9"/>
                          </a:solidFill>
                          <a:latin typeface="Merriweather" pitchFamily="34" charset="0"/>
                          <a:ea typeface="Merriweather" pitchFamily="34" charset="-122"/>
                          <a:cs typeface="Merriweather" pitchFamily="34" charset="-120"/>
                        </a:rPr>
                        <a:t>Shift Right</a:t>
                      </a:r>
                      <a:endParaRPr lang="en-US" sz="800" dirty="0">
                        <a:latin typeface="Merriweather" charset="0"/>
                        <a:ea typeface="Merriweather" charset="0"/>
                        <a:cs typeface="Merriweather" charset="0"/>
                      </a:endParaRPr>
                    </a:p>
                  </a:txBody>
                  <a:tcPr marL="102844" marR="102844" marT="6350" marB="6350" anchor="ctr">
                    <a:lnL w="12700" cap="flat" cmpd="sng" algn="ctr">
                      <a:solidFill>
                        <a:srgbClr val="194A99"/>
                      </a:solidFill>
                      <a:prstDash val="solid"/>
                      <a:round/>
                      <a:headEnd type="none" w="med" len="med"/>
                      <a:tailEnd type="none" w="med" len="med"/>
                    </a:lnL>
                    <a:lnR w="12700" cap="flat" cmpd="sng" algn="ctr">
                      <a:solidFill>
                        <a:srgbClr val="194A99"/>
                      </a:solidFill>
                      <a:prstDash val="solid"/>
                      <a:round/>
                      <a:headEnd type="none" w="med" len="med"/>
                      <a:tailEnd type="none" w="med" len="med"/>
                    </a:lnR>
                    <a:lnT w="12700" cap="flat" cmpd="sng" algn="ctr">
                      <a:solidFill>
                        <a:srgbClr val="194A99"/>
                      </a:solidFill>
                      <a:prstDash val="solid"/>
                      <a:round/>
                      <a:headEnd type="none" w="med" len="med"/>
                      <a:tailEnd type="none" w="med" len="med"/>
                    </a:lnT>
                    <a:lnB w="12700" cap="flat" cmpd="sng" algn="ctr">
                      <a:solidFill>
                        <a:srgbClr val="194A99"/>
                      </a:solidFill>
                      <a:prstDash val="solid"/>
                      <a:round/>
                      <a:headEnd type="none" w="med" len="med"/>
                      <a:tailEnd type="none" w="med" len="med"/>
                    </a:lnB>
                  </a:tcPr>
                </a:tc>
                <a:tc>
                  <a:txBody>
                    <a:bodyPr/>
                    <a:lstStyle/>
                    <a:p>
                      <a:pPr marL="0" indent="0">
                        <a:buNone/>
                      </a:pPr>
                      <a:r>
                        <a:rPr lang="en-US" sz="800" dirty="0">
                          <a:solidFill>
                            <a:srgbClr val="E2E6E9"/>
                          </a:solidFill>
                          <a:latin typeface="Merriweather" pitchFamily="34" charset="0"/>
                          <a:ea typeface="Merriweather" pitchFamily="34" charset="-122"/>
                          <a:cs typeface="Merriweather" pitchFamily="34" charset="-120"/>
                        </a:rPr>
                        <a:t>Data shifts from Q0 → Q1 → Q2 → Q3</a:t>
                      </a:r>
                      <a:endParaRPr lang="en-US" sz="800" dirty="0">
                        <a:latin typeface="Merriweather" charset="0"/>
                        <a:ea typeface="Merriweather" charset="0"/>
                        <a:cs typeface="Merriweather" charset="0"/>
                      </a:endParaRPr>
                    </a:p>
                  </a:txBody>
                  <a:tcPr marL="102844" marR="102844" marT="6350" marB="6350" anchor="ctr">
                    <a:lnL w="12700" cap="flat" cmpd="sng" algn="ctr">
                      <a:solidFill>
                        <a:srgbClr val="194A99"/>
                      </a:solidFill>
                      <a:prstDash val="solid"/>
                      <a:round/>
                      <a:headEnd type="none" w="med" len="med"/>
                      <a:tailEnd type="none" w="med" len="med"/>
                    </a:lnL>
                    <a:lnR w="12700" cap="flat" cmpd="sng" algn="ctr">
                      <a:solidFill>
                        <a:srgbClr val="194A99"/>
                      </a:solidFill>
                      <a:prstDash val="solid"/>
                      <a:round/>
                      <a:headEnd type="none" w="med" len="med"/>
                      <a:tailEnd type="none" w="med" len="med"/>
                    </a:lnR>
                    <a:lnT w="12700" cap="flat" cmpd="sng" algn="ctr">
                      <a:solidFill>
                        <a:srgbClr val="194A99"/>
                      </a:solidFill>
                      <a:prstDash val="solid"/>
                      <a:round/>
                      <a:headEnd type="none" w="med" len="med"/>
                      <a:tailEnd type="none" w="med" len="med"/>
                    </a:lnT>
                    <a:lnB w="12700" cap="flat" cmpd="sng" algn="ctr">
                      <a:solidFill>
                        <a:srgbClr val="194A99"/>
                      </a:solidFill>
                      <a:prstDash val="solid"/>
                      <a:round/>
                      <a:headEnd type="none" w="med" len="med"/>
                      <a:tailEnd type="none" w="med" len="med"/>
                    </a:lnB>
                  </a:tcPr>
                </a:tc>
                <a:extLst>
                  <a:ext uri="{0D108BD9-81ED-4DB2-BD59-A6C34878D82A}">
                    <a16:rowId xmlns:a16="http://schemas.microsoft.com/office/drawing/2014/main" val="10002"/>
                  </a:ext>
                </a:extLst>
              </a:tr>
              <a:tr h="982911">
                <a:tc>
                  <a:txBody>
                    <a:bodyPr/>
                    <a:lstStyle/>
                    <a:p>
                      <a:pPr marL="0" indent="0">
                        <a:buNone/>
                      </a:pPr>
                      <a:r>
                        <a:rPr lang="en-US" sz="800" dirty="0">
                          <a:solidFill>
                            <a:srgbClr val="E2E6E9"/>
                          </a:solidFill>
                          <a:latin typeface="Merriweather" pitchFamily="34" charset="0"/>
                          <a:ea typeface="Merriweather" pitchFamily="34" charset="-122"/>
                          <a:cs typeface="Merriweather" pitchFamily="34" charset="-120"/>
                        </a:rPr>
                        <a:t>1</a:t>
                      </a:r>
                      <a:endParaRPr lang="en-US" sz="800" dirty="0">
                        <a:latin typeface="Merriweather" charset="0"/>
                        <a:ea typeface="Merriweather" charset="0"/>
                        <a:cs typeface="Merriweather" charset="0"/>
                      </a:endParaRPr>
                    </a:p>
                  </a:txBody>
                  <a:tcPr marL="102844" marR="102844" marT="6350" marB="6350" anchor="ctr">
                    <a:lnL w="12700" cap="flat" cmpd="sng" algn="ctr">
                      <a:solidFill>
                        <a:srgbClr val="194A99"/>
                      </a:solidFill>
                      <a:prstDash val="solid"/>
                      <a:round/>
                      <a:headEnd type="none" w="med" len="med"/>
                      <a:tailEnd type="none" w="med" len="med"/>
                    </a:lnL>
                    <a:lnR w="12700" cap="flat" cmpd="sng" algn="ctr">
                      <a:solidFill>
                        <a:srgbClr val="194A99"/>
                      </a:solidFill>
                      <a:prstDash val="solid"/>
                      <a:round/>
                      <a:headEnd type="none" w="med" len="med"/>
                      <a:tailEnd type="none" w="med" len="med"/>
                    </a:lnR>
                    <a:lnT w="12700" cap="flat" cmpd="sng" algn="ctr">
                      <a:solidFill>
                        <a:srgbClr val="194A99"/>
                      </a:solidFill>
                      <a:prstDash val="solid"/>
                      <a:round/>
                      <a:headEnd type="none" w="med" len="med"/>
                      <a:tailEnd type="none" w="med" len="med"/>
                    </a:lnT>
                    <a:lnB w="12700" cap="flat" cmpd="sng" algn="ctr">
                      <a:solidFill>
                        <a:srgbClr val="194A99"/>
                      </a:solidFill>
                      <a:prstDash val="solid"/>
                      <a:round/>
                      <a:headEnd type="none" w="med" len="med"/>
                      <a:tailEnd type="none" w="med" len="med"/>
                    </a:lnB>
                  </a:tcPr>
                </a:tc>
                <a:tc>
                  <a:txBody>
                    <a:bodyPr/>
                    <a:lstStyle/>
                    <a:p>
                      <a:pPr marL="0" indent="0">
                        <a:buNone/>
                      </a:pPr>
                      <a:r>
                        <a:rPr lang="en-US" sz="800" dirty="0">
                          <a:solidFill>
                            <a:srgbClr val="E2E6E9"/>
                          </a:solidFill>
                          <a:latin typeface="Merriweather" pitchFamily="34" charset="0"/>
                          <a:ea typeface="Merriweather" pitchFamily="34" charset="-122"/>
                          <a:cs typeface="Merriweather" pitchFamily="34" charset="-120"/>
                        </a:rPr>
                        <a:t>0</a:t>
                      </a:r>
                      <a:endParaRPr lang="en-US" sz="800" dirty="0">
                        <a:latin typeface="Merriweather" charset="0"/>
                        <a:ea typeface="Merriweather" charset="0"/>
                        <a:cs typeface="Merriweather" charset="0"/>
                      </a:endParaRPr>
                    </a:p>
                  </a:txBody>
                  <a:tcPr marL="102844" marR="102844" marT="6350" marB="6350" anchor="ctr">
                    <a:lnL w="12700" cap="flat" cmpd="sng" algn="ctr">
                      <a:solidFill>
                        <a:srgbClr val="194A99"/>
                      </a:solidFill>
                      <a:prstDash val="solid"/>
                      <a:round/>
                      <a:headEnd type="none" w="med" len="med"/>
                      <a:tailEnd type="none" w="med" len="med"/>
                    </a:lnL>
                    <a:lnR w="12700" cap="flat" cmpd="sng" algn="ctr">
                      <a:solidFill>
                        <a:srgbClr val="194A99"/>
                      </a:solidFill>
                      <a:prstDash val="solid"/>
                      <a:round/>
                      <a:headEnd type="none" w="med" len="med"/>
                      <a:tailEnd type="none" w="med" len="med"/>
                    </a:lnR>
                    <a:lnT w="12700" cap="flat" cmpd="sng" algn="ctr">
                      <a:solidFill>
                        <a:srgbClr val="194A99"/>
                      </a:solidFill>
                      <a:prstDash val="solid"/>
                      <a:round/>
                      <a:headEnd type="none" w="med" len="med"/>
                      <a:tailEnd type="none" w="med" len="med"/>
                    </a:lnT>
                    <a:lnB w="12700" cap="flat" cmpd="sng" algn="ctr">
                      <a:solidFill>
                        <a:srgbClr val="194A99"/>
                      </a:solidFill>
                      <a:prstDash val="solid"/>
                      <a:round/>
                      <a:headEnd type="none" w="med" len="med"/>
                      <a:tailEnd type="none" w="med" len="med"/>
                    </a:lnB>
                  </a:tcPr>
                </a:tc>
                <a:tc>
                  <a:txBody>
                    <a:bodyPr/>
                    <a:lstStyle/>
                    <a:p>
                      <a:pPr marL="0" indent="0">
                        <a:buNone/>
                      </a:pPr>
                      <a:r>
                        <a:rPr lang="en-US" sz="800" dirty="0">
                          <a:solidFill>
                            <a:srgbClr val="E2E6E9"/>
                          </a:solidFill>
                          <a:latin typeface="Merriweather" pitchFamily="34" charset="0"/>
                          <a:ea typeface="Merriweather" pitchFamily="34" charset="-122"/>
                          <a:cs typeface="Merriweather" pitchFamily="34" charset="-120"/>
                        </a:rPr>
                        <a:t>Shift Left</a:t>
                      </a:r>
                      <a:endParaRPr lang="en-US" sz="800" dirty="0">
                        <a:latin typeface="Merriweather" charset="0"/>
                        <a:ea typeface="Merriweather" charset="0"/>
                        <a:cs typeface="Merriweather" charset="0"/>
                      </a:endParaRPr>
                    </a:p>
                  </a:txBody>
                  <a:tcPr marL="102844" marR="102844" marT="6350" marB="6350" anchor="ctr">
                    <a:lnL w="12700" cap="flat" cmpd="sng" algn="ctr">
                      <a:solidFill>
                        <a:srgbClr val="194A99"/>
                      </a:solidFill>
                      <a:prstDash val="solid"/>
                      <a:round/>
                      <a:headEnd type="none" w="med" len="med"/>
                      <a:tailEnd type="none" w="med" len="med"/>
                    </a:lnL>
                    <a:lnR w="12700" cap="flat" cmpd="sng" algn="ctr">
                      <a:solidFill>
                        <a:srgbClr val="194A99"/>
                      </a:solidFill>
                      <a:prstDash val="solid"/>
                      <a:round/>
                      <a:headEnd type="none" w="med" len="med"/>
                      <a:tailEnd type="none" w="med" len="med"/>
                    </a:lnR>
                    <a:lnT w="12700" cap="flat" cmpd="sng" algn="ctr">
                      <a:solidFill>
                        <a:srgbClr val="194A99"/>
                      </a:solidFill>
                      <a:prstDash val="solid"/>
                      <a:round/>
                      <a:headEnd type="none" w="med" len="med"/>
                      <a:tailEnd type="none" w="med" len="med"/>
                    </a:lnT>
                    <a:lnB w="12700" cap="flat" cmpd="sng" algn="ctr">
                      <a:solidFill>
                        <a:srgbClr val="194A99"/>
                      </a:solidFill>
                      <a:prstDash val="solid"/>
                      <a:round/>
                      <a:headEnd type="none" w="med" len="med"/>
                      <a:tailEnd type="none" w="med" len="med"/>
                    </a:lnB>
                  </a:tcPr>
                </a:tc>
                <a:tc>
                  <a:txBody>
                    <a:bodyPr/>
                    <a:lstStyle/>
                    <a:p>
                      <a:pPr marL="0" indent="0">
                        <a:buNone/>
                      </a:pPr>
                      <a:r>
                        <a:rPr lang="en-US" sz="800" dirty="0">
                          <a:solidFill>
                            <a:srgbClr val="E2E6E9"/>
                          </a:solidFill>
                          <a:latin typeface="Merriweather" pitchFamily="34" charset="0"/>
                          <a:ea typeface="Merriweather" pitchFamily="34" charset="-122"/>
                          <a:cs typeface="Merriweather" pitchFamily="34" charset="-120"/>
                        </a:rPr>
                        <a:t>Data shifts from Q3 → Q2 → Q1 → Q0</a:t>
                      </a:r>
                      <a:endParaRPr lang="en-US" sz="800" dirty="0">
                        <a:latin typeface="Merriweather" charset="0"/>
                        <a:ea typeface="Merriweather" charset="0"/>
                        <a:cs typeface="Merriweather" charset="0"/>
                      </a:endParaRPr>
                    </a:p>
                  </a:txBody>
                  <a:tcPr marL="102844" marR="102844" marT="6350" marB="6350" anchor="ctr">
                    <a:lnL w="12700" cap="flat" cmpd="sng" algn="ctr">
                      <a:solidFill>
                        <a:srgbClr val="194A99"/>
                      </a:solidFill>
                      <a:prstDash val="solid"/>
                      <a:round/>
                      <a:headEnd type="none" w="med" len="med"/>
                      <a:tailEnd type="none" w="med" len="med"/>
                    </a:lnL>
                    <a:lnR w="12700" cap="flat" cmpd="sng" algn="ctr">
                      <a:solidFill>
                        <a:srgbClr val="194A99"/>
                      </a:solidFill>
                      <a:prstDash val="solid"/>
                      <a:round/>
                      <a:headEnd type="none" w="med" len="med"/>
                      <a:tailEnd type="none" w="med" len="med"/>
                    </a:lnR>
                    <a:lnT w="12700" cap="flat" cmpd="sng" algn="ctr">
                      <a:solidFill>
                        <a:srgbClr val="194A99"/>
                      </a:solidFill>
                      <a:prstDash val="solid"/>
                      <a:round/>
                      <a:headEnd type="none" w="med" len="med"/>
                      <a:tailEnd type="none" w="med" len="med"/>
                    </a:lnT>
                    <a:lnB w="12700" cap="flat" cmpd="sng" algn="ctr">
                      <a:solidFill>
                        <a:srgbClr val="194A99"/>
                      </a:solidFill>
                      <a:prstDash val="solid"/>
                      <a:round/>
                      <a:headEnd type="none" w="med" len="med"/>
                      <a:tailEnd type="none" w="med" len="med"/>
                    </a:lnB>
                  </a:tcPr>
                </a:tc>
                <a:extLst>
                  <a:ext uri="{0D108BD9-81ED-4DB2-BD59-A6C34878D82A}">
                    <a16:rowId xmlns:a16="http://schemas.microsoft.com/office/drawing/2014/main" val="10003"/>
                  </a:ext>
                </a:extLst>
              </a:tr>
              <a:tr h="1512331">
                <a:tc>
                  <a:txBody>
                    <a:bodyPr/>
                    <a:lstStyle/>
                    <a:p>
                      <a:pPr marL="0" indent="0">
                        <a:buNone/>
                      </a:pPr>
                      <a:r>
                        <a:rPr lang="en-US" sz="800" dirty="0">
                          <a:solidFill>
                            <a:srgbClr val="E2E6E9"/>
                          </a:solidFill>
                          <a:latin typeface="Merriweather" pitchFamily="34" charset="0"/>
                          <a:ea typeface="Merriweather" pitchFamily="34" charset="-122"/>
                          <a:cs typeface="Merriweather" pitchFamily="34" charset="-120"/>
                        </a:rPr>
                        <a:t>1</a:t>
                      </a:r>
                      <a:endParaRPr lang="en-US" sz="800" dirty="0">
                        <a:latin typeface="Merriweather" charset="0"/>
                        <a:ea typeface="Merriweather" charset="0"/>
                        <a:cs typeface="Merriweather" charset="0"/>
                      </a:endParaRPr>
                    </a:p>
                  </a:txBody>
                  <a:tcPr marL="102844" marR="102844" marT="6350" marB="6350" anchor="ctr">
                    <a:lnL w="12700" cap="flat" cmpd="sng" algn="ctr">
                      <a:solidFill>
                        <a:srgbClr val="194A99"/>
                      </a:solidFill>
                      <a:prstDash val="solid"/>
                      <a:round/>
                      <a:headEnd type="none" w="med" len="med"/>
                      <a:tailEnd type="none" w="med" len="med"/>
                    </a:lnL>
                    <a:lnR w="12700" cap="flat" cmpd="sng" algn="ctr">
                      <a:solidFill>
                        <a:srgbClr val="194A99"/>
                      </a:solidFill>
                      <a:prstDash val="solid"/>
                      <a:round/>
                      <a:headEnd type="none" w="med" len="med"/>
                      <a:tailEnd type="none" w="med" len="med"/>
                    </a:lnR>
                    <a:lnT w="12700" cap="flat" cmpd="sng" algn="ctr">
                      <a:solidFill>
                        <a:srgbClr val="194A99"/>
                      </a:solidFill>
                      <a:prstDash val="solid"/>
                      <a:round/>
                      <a:headEnd type="none" w="med" len="med"/>
                      <a:tailEnd type="none" w="med" len="med"/>
                    </a:lnT>
                    <a:lnB w="12700" cap="flat" cmpd="sng" algn="ctr">
                      <a:solidFill>
                        <a:srgbClr val="194A99"/>
                      </a:solidFill>
                      <a:prstDash val="solid"/>
                      <a:round/>
                      <a:headEnd type="none" w="med" len="med"/>
                      <a:tailEnd type="none" w="med" len="med"/>
                    </a:lnB>
                  </a:tcPr>
                </a:tc>
                <a:tc>
                  <a:txBody>
                    <a:bodyPr/>
                    <a:lstStyle/>
                    <a:p>
                      <a:pPr marL="0" indent="0">
                        <a:buNone/>
                      </a:pPr>
                      <a:r>
                        <a:rPr lang="en-US" sz="800" dirty="0">
                          <a:solidFill>
                            <a:srgbClr val="E2E6E9"/>
                          </a:solidFill>
                          <a:latin typeface="Merriweather" pitchFamily="34" charset="0"/>
                          <a:ea typeface="Merriweather" pitchFamily="34" charset="-122"/>
                          <a:cs typeface="Merriweather" pitchFamily="34" charset="-120"/>
                        </a:rPr>
                        <a:t>1</a:t>
                      </a:r>
                      <a:endParaRPr lang="en-US" sz="800" dirty="0">
                        <a:latin typeface="Merriweather" charset="0"/>
                        <a:ea typeface="Merriweather" charset="0"/>
                        <a:cs typeface="Merriweather" charset="0"/>
                      </a:endParaRPr>
                    </a:p>
                  </a:txBody>
                  <a:tcPr marL="102844" marR="102844" marT="6350" marB="6350" anchor="ctr">
                    <a:lnL w="12700" cap="flat" cmpd="sng" algn="ctr">
                      <a:solidFill>
                        <a:srgbClr val="194A99"/>
                      </a:solidFill>
                      <a:prstDash val="solid"/>
                      <a:round/>
                      <a:headEnd type="none" w="med" len="med"/>
                      <a:tailEnd type="none" w="med" len="med"/>
                    </a:lnL>
                    <a:lnR w="12700" cap="flat" cmpd="sng" algn="ctr">
                      <a:solidFill>
                        <a:srgbClr val="194A99"/>
                      </a:solidFill>
                      <a:prstDash val="solid"/>
                      <a:round/>
                      <a:headEnd type="none" w="med" len="med"/>
                      <a:tailEnd type="none" w="med" len="med"/>
                    </a:lnR>
                    <a:lnT w="12700" cap="flat" cmpd="sng" algn="ctr">
                      <a:solidFill>
                        <a:srgbClr val="194A99"/>
                      </a:solidFill>
                      <a:prstDash val="solid"/>
                      <a:round/>
                      <a:headEnd type="none" w="med" len="med"/>
                      <a:tailEnd type="none" w="med" len="med"/>
                    </a:lnT>
                    <a:lnB w="12700" cap="flat" cmpd="sng" algn="ctr">
                      <a:solidFill>
                        <a:srgbClr val="194A99"/>
                      </a:solidFill>
                      <a:prstDash val="solid"/>
                      <a:round/>
                      <a:headEnd type="none" w="med" len="med"/>
                      <a:tailEnd type="none" w="med" len="med"/>
                    </a:lnB>
                  </a:tcPr>
                </a:tc>
                <a:tc>
                  <a:txBody>
                    <a:bodyPr/>
                    <a:lstStyle/>
                    <a:p>
                      <a:pPr marL="0" indent="0">
                        <a:buNone/>
                      </a:pPr>
                      <a:r>
                        <a:rPr lang="en-US" sz="800" dirty="0">
                          <a:solidFill>
                            <a:srgbClr val="E2E6E9"/>
                          </a:solidFill>
                          <a:latin typeface="Merriweather" pitchFamily="34" charset="0"/>
                          <a:ea typeface="Merriweather" pitchFamily="34" charset="-122"/>
                          <a:cs typeface="Merriweather" pitchFamily="34" charset="-120"/>
                        </a:rPr>
                        <a:t>Parallel Load</a:t>
                      </a:r>
                      <a:endParaRPr lang="en-US" sz="800" dirty="0">
                        <a:latin typeface="Merriweather" charset="0"/>
                        <a:ea typeface="Merriweather" charset="0"/>
                        <a:cs typeface="Merriweather" charset="0"/>
                      </a:endParaRPr>
                    </a:p>
                  </a:txBody>
                  <a:tcPr marL="102844" marR="102844" marT="6350" marB="6350" anchor="ctr">
                    <a:lnL w="12700" cap="flat" cmpd="sng" algn="ctr">
                      <a:solidFill>
                        <a:srgbClr val="194A99"/>
                      </a:solidFill>
                      <a:prstDash val="solid"/>
                      <a:round/>
                      <a:headEnd type="none" w="med" len="med"/>
                      <a:tailEnd type="none" w="med" len="med"/>
                    </a:lnL>
                    <a:lnR w="12700" cap="flat" cmpd="sng" algn="ctr">
                      <a:solidFill>
                        <a:srgbClr val="194A99"/>
                      </a:solidFill>
                      <a:prstDash val="solid"/>
                      <a:round/>
                      <a:headEnd type="none" w="med" len="med"/>
                      <a:tailEnd type="none" w="med" len="med"/>
                    </a:lnR>
                    <a:lnT w="12700" cap="flat" cmpd="sng" algn="ctr">
                      <a:solidFill>
                        <a:srgbClr val="194A99"/>
                      </a:solidFill>
                      <a:prstDash val="solid"/>
                      <a:round/>
                      <a:headEnd type="none" w="med" len="med"/>
                      <a:tailEnd type="none" w="med" len="med"/>
                    </a:lnT>
                    <a:lnB w="12700" cap="flat" cmpd="sng" algn="ctr">
                      <a:solidFill>
                        <a:srgbClr val="194A99"/>
                      </a:solidFill>
                      <a:prstDash val="solid"/>
                      <a:round/>
                      <a:headEnd type="none" w="med" len="med"/>
                      <a:tailEnd type="none" w="med" len="med"/>
                    </a:lnB>
                  </a:tcPr>
                </a:tc>
                <a:tc>
                  <a:txBody>
                    <a:bodyPr/>
                    <a:lstStyle/>
                    <a:p>
                      <a:pPr marL="0" indent="0">
                        <a:buNone/>
                      </a:pPr>
                      <a:r>
                        <a:rPr lang="en-US" sz="800" dirty="0">
                          <a:solidFill>
                            <a:srgbClr val="E2E6E9"/>
                          </a:solidFill>
                          <a:latin typeface="Merriweather" pitchFamily="34" charset="0"/>
                          <a:ea typeface="Merriweather" pitchFamily="34" charset="-122"/>
                          <a:cs typeface="Merriweather" pitchFamily="34" charset="-120"/>
                        </a:rPr>
                        <a:t>External data inputs (D0-D3) loaded simultaneously</a:t>
                      </a:r>
                      <a:endParaRPr lang="en-US" sz="800" dirty="0">
                        <a:latin typeface="Merriweather" charset="0"/>
                        <a:ea typeface="Merriweather" charset="0"/>
                        <a:cs typeface="Merriweather" charset="0"/>
                      </a:endParaRPr>
                    </a:p>
                  </a:txBody>
                  <a:tcPr marL="102844" marR="102844" marT="6350" marB="6350" anchor="ctr">
                    <a:lnL w="12700" cap="flat" cmpd="sng" algn="ctr">
                      <a:solidFill>
                        <a:srgbClr val="194A99"/>
                      </a:solidFill>
                      <a:prstDash val="solid"/>
                      <a:round/>
                      <a:headEnd type="none" w="med" len="med"/>
                      <a:tailEnd type="none" w="med" len="med"/>
                    </a:lnL>
                    <a:lnR w="12700" cap="flat" cmpd="sng" algn="ctr">
                      <a:solidFill>
                        <a:srgbClr val="194A99"/>
                      </a:solidFill>
                      <a:prstDash val="solid"/>
                      <a:round/>
                      <a:headEnd type="none" w="med" len="med"/>
                      <a:tailEnd type="none" w="med" len="med"/>
                    </a:lnR>
                    <a:lnT w="12700" cap="flat" cmpd="sng" algn="ctr">
                      <a:solidFill>
                        <a:srgbClr val="194A99"/>
                      </a:solidFill>
                      <a:prstDash val="solid"/>
                      <a:round/>
                      <a:headEnd type="none" w="med" len="med"/>
                      <a:tailEnd type="none" w="med" len="med"/>
                    </a:lnT>
                    <a:lnB w="12700" cap="flat" cmpd="sng" algn="ctr">
                      <a:solidFill>
                        <a:srgbClr val="194A99"/>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9" name="Text 5"/>
          <p:cNvSpPr/>
          <p:nvPr/>
        </p:nvSpPr>
        <p:spPr>
          <a:xfrm>
            <a:off x="7863840" y="2376563"/>
            <a:ext cx="2919096" cy="406820"/>
          </a:xfrm>
          <a:prstGeom prst="rect">
            <a:avLst/>
          </a:prstGeom>
          <a:noFill/>
          <a:ln/>
        </p:spPr>
        <p:txBody>
          <a:bodyPr wrap="none" lIns="0" tIns="0" rIns="0" bIns="0" rtlCol="0" anchor="t"/>
          <a:lstStyle/>
          <a:p>
            <a:pPr marL="0" indent="0" algn="l">
              <a:lnSpc>
                <a:spcPct val="104000"/>
              </a:lnSpc>
              <a:buNone/>
            </a:pP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3">
            <a:extLst>
              <a:ext uri="{FF2B5EF4-FFF2-40B4-BE49-F238E27FC236}">
                <a16:creationId xmlns:a16="http://schemas.microsoft.com/office/drawing/2014/main" id="{BEEAABF8-39BE-99CC-9657-FA7AF29188C1}"/>
              </a:ext>
            </a:extLst>
          </p:cNvPr>
          <p:cNvSpPr/>
          <p:nvPr/>
        </p:nvSpPr>
        <p:spPr>
          <a:xfrm>
            <a:off x="358580" y="212483"/>
            <a:ext cx="5250624" cy="160734"/>
          </a:xfrm>
          <a:prstGeom prst="rect">
            <a:avLst/>
          </a:prstGeom>
          <a:noFill/>
          <a:ln/>
        </p:spPr>
        <p:txBody>
          <a:bodyPr wrap="none" lIns="0" tIns="0" rIns="0" bIns="0" rtlCol="0" anchor="t"/>
          <a:lstStyle/>
          <a:p>
            <a:pPr marL="0" indent="0" algn="l">
              <a:lnSpc>
                <a:spcPct val="104000"/>
              </a:lnSpc>
              <a:buNone/>
            </a:pPr>
            <a:r>
              <a:rPr lang="en-US" sz="1000" dirty="0">
                <a:solidFill>
                  <a:srgbClr val="F5F0F0"/>
                </a:solidFill>
                <a:latin typeface="Merriweather" pitchFamily="34" charset="0"/>
                <a:ea typeface="Merriweather" pitchFamily="34" charset="-122"/>
                <a:cs typeface="Merriweather" pitchFamily="34" charset="-120"/>
              </a:rPr>
              <a:t>Simulation Timing Diagram</a:t>
            </a:r>
            <a:endParaRPr lang="en-US" sz="1000" dirty="0"/>
          </a:p>
        </p:txBody>
      </p:sp>
      <p:pic>
        <p:nvPicPr>
          <p:cNvPr id="5" name="Image 0" descr="preencoded.png">
            <a:extLst>
              <a:ext uri="{FF2B5EF4-FFF2-40B4-BE49-F238E27FC236}">
                <a16:creationId xmlns:a16="http://schemas.microsoft.com/office/drawing/2014/main" id="{822BADC8-E2DB-123D-08D7-BDFBFF7BA624}"/>
              </a:ext>
            </a:extLst>
          </p:cNvPr>
          <p:cNvPicPr>
            <a:picLocks noChangeAspect="1"/>
          </p:cNvPicPr>
          <p:nvPr/>
        </p:nvPicPr>
        <p:blipFill>
          <a:blip r:embed="rId2"/>
          <a:stretch>
            <a:fillRect/>
          </a:stretch>
        </p:blipFill>
        <p:spPr>
          <a:xfrm>
            <a:off x="358580" y="431061"/>
            <a:ext cx="5250624" cy="5250755"/>
          </a:xfrm>
          <a:prstGeom prst="rect">
            <a:avLst/>
          </a:prstGeom>
        </p:spPr>
      </p:pic>
      <p:sp>
        <p:nvSpPr>
          <p:cNvPr id="7" name="Text 4">
            <a:extLst>
              <a:ext uri="{FF2B5EF4-FFF2-40B4-BE49-F238E27FC236}">
                <a16:creationId xmlns:a16="http://schemas.microsoft.com/office/drawing/2014/main" id="{AD5D439E-81E1-8D86-8413-B4147ADFB4A6}"/>
              </a:ext>
            </a:extLst>
          </p:cNvPr>
          <p:cNvSpPr/>
          <p:nvPr/>
        </p:nvSpPr>
        <p:spPr>
          <a:xfrm>
            <a:off x="358580" y="5739662"/>
            <a:ext cx="5250624" cy="370284"/>
          </a:xfrm>
          <a:prstGeom prst="rect">
            <a:avLst/>
          </a:prstGeom>
          <a:noFill/>
          <a:ln/>
        </p:spPr>
        <p:txBody>
          <a:bodyPr wrap="square" lIns="0" tIns="0" rIns="0" bIns="0" rtlCol="0" anchor="t">
            <a:normAutofit/>
          </a:bodyPr>
          <a:lstStyle/>
          <a:p>
            <a:pPr marL="0" indent="0" algn="l">
              <a:lnSpc>
                <a:spcPct val="100000"/>
              </a:lnSpc>
              <a:buNone/>
            </a:pPr>
            <a:r>
              <a:rPr lang="en-US" sz="800" dirty="0">
                <a:solidFill>
                  <a:srgbClr val="E2E6E9"/>
                </a:solidFill>
                <a:latin typeface="Merriweather" pitchFamily="34" charset="0"/>
                <a:ea typeface="Merriweather" pitchFamily="34" charset="-122"/>
                <a:cs typeface="Merriweather" pitchFamily="34" charset="-120"/>
              </a:rPr>
              <a:t>The timing diagram visually confirms the register's response to clock edges and control signal changes, demonstrating correct data propagation for each mode. For instance, the 'Shift Right' segment clearly shows data bits moving sequentially from left to right with each clock pulse.</a:t>
            </a:r>
            <a:endParaRPr lang="en-US" sz="800" dirty="0"/>
          </a:p>
        </p:txBody>
      </p:sp>
      <p:sp>
        <p:nvSpPr>
          <p:cNvPr id="9" name="Text 5">
            <a:extLst>
              <a:ext uri="{FF2B5EF4-FFF2-40B4-BE49-F238E27FC236}">
                <a16:creationId xmlns:a16="http://schemas.microsoft.com/office/drawing/2014/main" id="{2BBFAA14-E961-7CAF-C885-0812B24009F1}"/>
              </a:ext>
            </a:extLst>
          </p:cNvPr>
          <p:cNvSpPr/>
          <p:nvPr/>
        </p:nvSpPr>
        <p:spPr>
          <a:xfrm>
            <a:off x="5866373" y="212483"/>
            <a:ext cx="5250624" cy="160734"/>
          </a:xfrm>
          <a:prstGeom prst="rect">
            <a:avLst/>
          </a:prstGeom>
          <a:noFill/>
          <a:ln/>
        </p:spPr>
        <p:txBody>
          <a:bodyPr wrap="none" lIns="0" tIns="0" rIns="0" bIns="0" rtlCol="0" anchor="t"/>
          <a:lstStyle/>
          <a:p>
            <a:pPr marL="0" indent="0" algn="l">
              <a:lnSpc>
                <a:spcPct val="104000"/>
              </a:lnSpc>
              <a:buNone/>
            </a:pPr>
            <a:r>
              <a:rPr lang="en-US" sz="1000" dirty="0">
                <a:solidFill>
                  <a:srgbClr val="F5F0F0"/>
                </a:solidFill>
                <a:latin typeface="Merriweather" pitchFamily="34" charset="0"/>
                <a:ea typeface="Merriweather" pitchFamily="34" charset="-122"/>
                <a:cs typeface="Merriweather" pitchFamily="34" charset="-120"/>
              </a:rPr>
              <a:t>Circuit Output Verification</a:t>
            </a:r>
            <a:endParaRPr lang="en-US" sz="1000" dirty="0"/>
          </a:p>
        </p:txBody>
      </p:sp>
      <p:pic>
        <p:nvPicPr>
          <p:cNvPr id="11" name="Image 1" descr="preencoded.png">
            <a:extLst>
              <a:ext uri="{FF2B5EF4-FFF2-40B4-BE49-F238E27FC236}">
                <a16:creationId xmlns:a16="http://schemas.microsoft.com/office/drawing/2014/main" id="{4BA07EF4-7A2B-C7C9-7EC4-B56FB074998A}"/>
              </a:ext>
            </a:extLst>
          </p:cNvPr>
          <p:cNvPicPr>
            <a:picLocks noChangeAspect="1"/>
          </p:cNvPicPr>
          <p:nvPr/>
        </p:nvPicPr>
        <p:blipFill>
          <a:blip r:embed="rId3"/>
          <a:stretch>
            <a:fillRect/>
          </a:stretch>
        </p:blipFill>
        <p:spPr>
          <a:xfrm>
            <a:off x="5866373" y="431061"/>
            <a:ext cx="5250624" cy="5250755"/>
          </a:xfrm>
          <a:prstGeom prst="rect">
            <a:avLst/>
          </a:prstGeom>
        </p:spPr>
      </p:pic>
      <p:sp>
        <p:nvSpPr>
          <p:cNvPr id="13" name="Text 6">
            <a:extLst>
              <a:ext uri="{FF2B5EF4-FFF2-40B4-BE49-F238E27FC236}">
                <a16:creationId xmlns:a16="http://schemas.microsoft.com/office/drawing/2014/main" id="{D3AF26F4-5439-5844-D0FD-3CE95C314E76}"/>
              </a:ext>
            </a:extLst>
          </p:cNvPr>
          <p:cNvSpPr/>
          <p:nvPr/>
        </p:nvSpPr>
        <p:spPr>
          <a:xfrm>
            <a:off x="5866373" y="5739662"/>
            <a:ext cx="5250624" cy="370284"/>
          </a:xfrm>
          <a:prstGeom prst="rect">
            <a:avLst/>
          </a:prstGeom>
          <a:noFill/>
          <a:ln/>
        </p:spPr>
        <p:txBody>
          <a:bodyPr wrap="square" lIns="0" tIns="0" rIns="0" bIns="0" rtlCol="0" anchor="t">
            <a:normAutofit/>
          </a:bodyPr>
          <a:lstStyle/>
          <a:p>
            <a:pPr marL="0" indent="0" algn="l">
              <a:lnSpc>
                <a:spcPct val="100000"/>
              </a:lnSpc>
              <a:buNone/>
            </a:pPr>
            <a:r>
              <a:rPr lang="en-US" sz="800" dirty="0">
                <a:solidFill>
                  <a:srgbClr val="E2E6E9"/>
                </a:solidFill>
                <a:latin typeface="Merriweather" pitchFamily="34" charset="0"/>
                <a:ea typeface="Merriweather" pitchFamily="34" charset="-122"/>
                <a:cs typeface="Merriweather" pitchFamily="34" charset="-120"/>
              </a:rPr>
              <a:t>Detailed circuit output screenshots capture the internal state of the flip-flops during various operations. This specific image illustrates a 'Shift Right' operation, where an initial data input (e.g., 1011) progresses bit by bit through the register, confirming the precise data flow as designed.</a:t>
            </a:r>
            <a:endParaRPr lang="en-US" sz="800" dirty="0"/>
          </a:p>
        </p:txBody>
      </p:sp>
      <p:sp>
        <p:nvSpPr>
          <p:cNvPr id="15" name="Shape 7">
            <a:extLst>
              <a:ext uri="{FF2B5EF4-FFF2-40B4-BE49-F238E27FC236}">
                <a16:creationId xmlns:a16="http://schemas.microsoft.com/office/drawing/2014/main" id="{67DAEC23-371F-1AA9-1A01-7C7244303BA2}"/>
              </a:ext>
            </a:extLst>
          </p:cNvPr>
          <p:cNvSpPr/>
          <p:nvPr/>
        </p:nvSpPr>
        <p:spPr>
          <a:xfrm>
            <a:off x="358580" y="6214026"/>
            <a:ext cx="10752067" cy="395883"/>
          </a:xfrm>
          <a:prstGeom prst="roundRect">
            <a:avLst>
              <a:gd name="adj" fmla="val 10911"/>
            </a:avLst>
          </a:prstGeom>
          <a:solidFill>
            <a:srgbClr val="003180"/>
          </a:solidFill>
          <a:ln/>
        </p:spPr>
      </p:sp>
      <p:pic>
        <p:nvPicPr>
          <p:cNvPr id="17" name="Image 2" descr="preencoded.png">
            <a:extLst>
              <a:ext uri="{FF2B5EF4-FFF2-40B4-BE49-F238E27FC236}">
                <a16:creationId xmlns:a16="http://schemas.microsoft.com/office/drawing/2014/main" id="{9D70C331-2719-2DD0-686A-1FD642CB287B}"/>
              </a:ext>
            </a:extLst>
          </p:cNvPr>
          <p:cNvPicPr>
            <a:picLocks noChangeAspect="1"/>
          </p:cNvPicPr>
          <p:nvPr/>
        </p:nvPicPr>
        <p:blipFill>
          <a:blip r:embed="rId4"/>
          <a:stretch>
            <a:fillRect/>
          </a:stretch>
        </p:blipFill>
        <p:spPr>
          <a:xfrm>
            <a:off x="461368" y="6291119"/>
            <a:ext cx="128485" cy="102791"/>
          </a:xfrm>
          <a:prstGeom prst="rect">
            <a:avLst/>
          </a:prstGeom>
        </p:spPr>
      </p:pic>
      <p:sp>
        <p:nvSpPr>
          <p:cNvPr id="19" name="Text 8">
            <a:extLst>
              <a:ext uri="{FF2B5EF4-FFF2-40B4-BE49-F238E27FC236}">
                <a16:creationId xmlns:a16="http://schemas.microsoft.com/office/drawing/2014/main" id="{0543E1D9-47A6-2E76-1BAC-0CAF34427BDD}"/>
              </a:ext>
            </a:extLst>
          </p:cNvPr>
          <p:cNvSpPr/>
          <p:nvPr/>
        </p:nvSpPr>
        <p:spPr>
          <a:xfrm>
            <a:off x="692641" y="6291119"/>
            <a:ext cx="10315218" cy="246856"/>
          </a:xfrm>
          <a:prstGeom prst="rect">
            <a:avLst/>
          </a:prstGeom>
          <a:noFill/>
          <a:ln/>
        </p:spPr>
        <p:txBody>
          <a:bodyPr wrap="square" lIns="0" tIns="0" rIns="0" bIns="0" rtlCol="0" anchor="t">
            <a:normAutofit/>
          </a:bodyPr>
          <a:lstStyle/>
          <a:p>
            <a:pPr marL="0" indent="0" algn="l">
              <a:lnSpc>
                <a:spcPct val="100000"/>
              </a:lnSpc>
              <a:buNone/>
            </a:pPr>
            <a:r>
              <a:rPr lang="en-US" sz="800" b="1" dirty="0">
                <a:solidFill>
                  <a:srgbClr val="FFFFFF"/>
                </a:solidFill>
                <a:latin typeface="Merriweather Bold" pitchFamily="34" charset="0"/>
                <a:ea typeface="Merriweather Bold" pitchFamily="34" charset="-122"/>
                <a:cs typeface="Merriweather Bold" pitchFamily="34" charset="-120"/>
              </a:rPr>
              <a:t>Performance metrics and verification:</a:t>
            </a:r>
            <a:r>
              <a:rPr lang="en-US" sz="800" dirty="0">
                <a:solidFill>
                  <a:srgbClr val="FFFFFF"/>
                </a:solidFill>
                <a:latin typeface="Merriweather" pitchFamily="34" charset="0"/>
                <a:ea typeface="Merriweather" pitchFamily="34" charset="-122"/>
                <a:cs typeface="Merriweather" pitchFamily="34" charset="-120"/>
              </a:rPr>
              <a:t> The design exhibits stable synchronous operation with minimal propagation delay. All functionalities align perfectly with the truth table and design specifications, confirming robustness and reliability for diverse digital applications.</a:t>
            </a:r>
            <a:endParaRPr lang="en-US" sz="800" dirty="0"/>
          </a:p>
        </p:txBody>
      </p:sp>
    </p:spTree>
    <p:extLst>
      <p:ext uri="{BB962C8B-B14F-4D97-AF65-F5344CB8AC3E}">
        <p14:creationId xmlns:p14="http://schemas.microsoft.com/office/powerpoint/2010/main" val="634288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291700" y="724694"/>
            <a:ext cx="6180181" cy="903883"/>
          </a:xfrm>
          <a:prstGeom prst="rect">
            <a:avLst/>
          </a:prstGeom>
          <a:noFill/>
          <a:ln/>
        </p:spPr>
        <p:txBody>
          <a:bodyPr wrap="square" lIns="0" tIns="0" rIns="0" bIns="0" rtlCol="0" anchor="t">
            <a:normAutofit/>
          </a:bodyPr>
          <a:lstStyle/>
          <a:p>
            <a:pPr marL="0" indent="0" algn="l">
              <a:lnSpc>
                <a:spcPct val="104000"/>
              </a:lnSpc>
              <a:buNone/>
            </a:pPr>
            <a:r>
              <a:rPr lang="en-US" sz="2800" dirty="0">
                <a:solidFill>
                  <a:srgbClr val="F5F0F0"/>
                </a:solidFill>
                <a:latin typeface="Merriweather" pitchFamily="34" charset="0"/>
                <a:ea typeface="Merriweather" pitchFamily="34" charset="-122"/>
                <a:cs typeface="Merriweather" pitchFamily="34" charset="-120"/>
              </a:rPr>
              <a:t>Conclusion: A Universal Achievement</a:t>
            </a:r>
            <a:endParaRPr lang="en-US" sz="2800" dirty="0"/>
          </a:p>
        </p:txBody>
      </p:sp>
      <p:sp>
        <p:nvSpPr>
          <p:cNvPr id="4" name="Text 1"/>
          <p:cNvSpPr/>
          <p:nvPr/>
        </p:nvSpPr>
        <p:spPr>
          <a:xfrm>
            <a:off x="5291700" y="1781076"/>
            <a:ext cx="6180181" cy="394097"/>
          </a:xfrm>
          <a:prstGeom prst="rect">
            <a:avLst/>
          </a:prstGeom>
          <a:noFill/>
          <a:ln/>
        </p:spPr>
        <p:txBody>
          <a:bodyPr wrap="square" lIns="0" tIns="0" rIns="0" bIns="0" rtlCol="0" anchor="t">
            <a:normAutofit/>
          </a:bodyPr>
          <a:lstStyle/>
          <a:p>
            <a:pPr marL="0" indent="0" algn="l">
              <a:lnSpc>
                <a:spcPct val="114000"/>
              </a:lnSpc>
              <a:buNone/>
            </a:pPr>
            <a:r>
              <a:rPr lang="en-US" sz="1100" dirty="0">
                <a:solidFill>
                  <a:srgbClr val="E2E6E9"/>
                </a:solidFill>
                <a:latin typeface="Merriweather" pitchFamily="34" charset="0"/>
                <a:ea typeface="Merriweather" pitchFamily="34" charset="-122"/>
                <a:cs typeface="Merriweather" pitchFamily="34" charset="-120"/>
              </a:rPr>
              <a:t>Our project successfully culminated in the design and simulation of a functional 4-bit universal shift register, meeting all defined objectives.</a:t>
            </a:r>
            <a:endParaRPr lang="en-US" sz="1100" dirty="0"/>
          </a:p>
        </p:txBody>
      </p:sp>
      <p:sp>
        <p:nvSpPr>
          <p:cNvPr id="5" name="Shape 2"/>
          <p:cNvSpPr/>
          <p:nvPr/>
        </p:nvSpPr>
        <p:spPr>
          <a:xfrm>
            <a:off x="5291700" y="2289572"/>
            <a:ext cx="3039292" cy="1715294"/>
          </a:xfrm>
          <a:prstGeom prst="roundRect">
            <a:avLst>
              <a:gd name="adj" fmla="val 3541"/>
            </a:avLst>
          </a:prstGeom>
          <a:solidFill>
            <a:srgbClr val="003180"/>
          </a:solidFill>
          <a:ln w="6350">
            <a:solidFill>
              <a:srgbClr val="194A99"/>
            </a:solidFill>
            <a:prstDash val="solid"/>
          </a:ln>
        </p:spPr>
      </p:sp>
      <p:sp>
        <p:nvSpPr>
          <p:cNvPr id="6" name="Shape 3"/>
          <p:cNvSpPr/>
          <p:nvPr/>
        </p:nvSpPr>
        <p:spPr>
          <a:xfrm>
            <a:off x="5442608" y="2440484"/>
            <a:ext cx="433873" cy="433884"/>
          </a:xfrm>
          <a:prstGeom prst="ellipse">
            <a:avLst/>
          </a:prstGeom>
          <a:solidFill>
            <a:srgbClr val="609DFF"/>
          </a:solidFill>
          <a:ln/>
        </p:spPr>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561965" y="2559844"/>
            <a:ext cx="195158" cy="195163"/>
          </a:xfrm>
          <a:prstGeom prst="rect">
            <a:avLst/>
          </a:prstGeom>
        </p:spPr>
      </p:pic>
      <p:sp>
        <p:nvSpPr>
          <p:cNvPr id="8" name="Text 4"/>
          <p:cNvSpPr/>
          <p:nvPr/>
        </p:nvSpPr>
        <p:spPr>
          <a:xfrm>
            <a:off x="5442608" y="2975967"/>
            <a:ext cx="2737476" cy="225921"/>
          </a:xfrm>
          <a:prstGeom prst="rect">
            <a:avLst/>
          </a:prstGeom>
          <a:noFill/>
          <a:ln/>
        </p:spPr>
        <p:txBody>
          <a:bodyPr wrap="none" lIns="0" tIns="0" rIns="0" bIns="0" rtlCol="0" anchor="t"/>
          <a:lstStyle/>
          <a:p>
            <a:pPr marL="0" indent="0" algn="l">
              <a:lnSpc>
                <a:spcPct val="104000"/>
              </a:lnSpc>
              <a:buNone/>
            </a:pPr>
            <a:r>
              <a:rPr lang="en-US" sz="1400" dirty="0">
                <a:solidFill>
                  <a:srgbClr val="E2E6E9"/>
                </a:solidFill>
                <a:latin typeface="Merriweather" pitchFamily="34" charset="0"/>
                <a:ea typeface="Merriweather" pitchFamily="34" charset="-122"/>
                <a:cs typeface="Merriweather" pitchFamily="34" charset="-120"/>
              </a:rPr>
              <a:t>Robust Design &amp; Simulation</a:t>
            </a:r>
            <a:endParaRPr lang="en-US" sz="1400" dirty="0"/>
          </a:p>
        </p:txBody>
      </p:sp>
      <p:sp>
        <p:nvSpPr>
          <p:cNvPr id="9" name="Text 5"/>
          <p:cNvSpPr/>
          <p:nvPr/>
        </p:nvSpPr>
        <p:spPr>
          <a:xfrm>
            <a:off x="5442608" y="3262809"/>
            <a:ext cx="2737476" cy="591145"/>
          </a:xfrm>
          <a:prstGeom prst="rect">
            <a:avLst/>
          </a:prstGeom>
          <a:noFill/>
          <a:ln/>
        </p:spPr>
        <p:txBody>
          <a:bodyPr wrap="square" lIns="0" tIns="0" rIns="0" bIns="0" rtlCol="0" anchor="t">
            <a:normAutofit/>
          </a:bodyPr>
          <a:lstStyle/>
          <a:p>
            <a:pPr marL="0" indent="0" algn="l">
              <a:lnSpc>
                <a:spcPct val="114000"/>
              </a:lnSpc>
              <a:buNone/>
            </a:pPr>
            <a:r>
              <a:rPr lang="en-US" sz="1100" dirty="0">
                <a:solidFill>
                  <a:srgbClr val="E2E6E9"/>
                </a:solidFill>
                <a:latin typeface="Merriweather" pitchFamily="34" charset="0"/>
                <a:ea typeface="Merriweather" pitchFamily="34" charset="-122"/>
                <a:cs typeface="Merriweather" pitchFamily="34" charset="-120"/>
              </a:rPr>
              <a:t>Successfully designed and rigorously simulated a 4-bit universal shift register using fundamental logic gates.</a:t>
            </a:r>
            <a:endParaRPr lang="en-US" sz="1100" dirty="0"/>
          </a:p>
        </p:txBody>
      </p:sp>
      <p:sp>
        <p:nvSpPr>
          <p:cNvPr id="10" name="Shape 6"/>
          <p:cNvSpPr/>
          <p:nvPr/>
        </p:nvSpPr>
        <p:spPr>
          <a:xfrm>
            <a:off x="8432589" y="2289572"/>
            <a:ext cx="3039292" cy="1715294"/>
          </a:xfrm>
          <a:prstGeom prst="roundRect">
            <a:avLst>
              <a:gd name="adj" fmla="val 3541"/>
            </a:avLst>
          </a:prstGeom>
          <a:solidFill>
            <a:srgbClr val="003180"/>
          </a:solidFill>
          <a:ln w="6350">
            <a:solidFill>
              <a:srgbClr val="194A99"/>
            </a:solidFill>
            <a:prstDash val="solid"/>
          </a:ln>
        </p:spPr>
      </p:sp>
      <p:sp>
        <p:nvSpPr>
          <p:cNvPr id="11" name="Shape 7"/>
          <p:cNvSpPr/>
          <p:nvPr/>
        </p:nvSpPr>
        <p:spPr>
          <a:xfrm>
            <a:off x="8583497" y="2440484"/>
            <a:ext cx="433873" cy="433884"/>
          </a:xfrm>
          <a:prstGeom prst="ellipse">
            <a:avLst/>
          </a:prstGeom>
          <a:solidFill>
            <a:srgbClr val="609DFF"/>
          </a:solidFill>
          <a:ln/>
        </p:spPr>
      </p:sp>
      <p:pic>
        <p:nvPicPr>
          <p:cNvPr id="1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702854" y="2559844"/>
            <a:ext cx="195158" cy="195163"/>
          </a:xfrm>
          <a:prstGeom prst="rect">
            <a:avLst/>
          </a:prstGeom>
        </p:spPr>
      </p:pic>
      <p:sp>
        <p:nvSpPr>
          <p:cNvPr id="13" name="Text 8"/>
          <p:cNvSpPr/>
          <p:nvPr/>
        </p:nvSpPr>
        <p:spPr>
          <a:xfrm>
            <a:off x="8583497" y="2975967"/>
            <a:ext cx="2737476" cy="225921"/>
          </a:xfrm>
          <a:prstGeom prst="rect">
            <a:avLst/>
          </a:prstGeom>
          <a:noFill/>
          <a:ln/>
        </p:spPr>
        <p:txBody>
          <a:bodyPr wrap="none" lIns="0" tIns="0" rIns="0" bIns="0" rtlCol="0" anchor="t"/>
          <a:lstStyle/>
          <a:p>
            <a:pPr marL="0" indent="0" algn="l">
              <a:lnSpc>
                <a:spcPct val="104000"/>
              </a:lnSpc>
              <a:buNone/>
            </a:pPr>
            <a:r>
              <a:rPr lang="en-US" sz="1400" dirty="0">
                <a:solidFill>
                  <a:srgbClr val="E2E6E9"/>
                </a:solidFill>
                <a:latin typeface="Merriweather" pitchFamily="34" charset="0"/>
                <a:ea typeface="Merriweather" pitchFamily="34" charset="-122"/>
                <a:cs typeface="Merriweather" pitchFamily="34" charset="-120"/>
              </a:rPr>
              <a:t>Objectives Fully Met</a:t>
            </a:r>
            <a:endParaRPr lang="en-US" sz="1400" dirty="0"/>
          </a:p>
        </p:txBody>
      </p:sp>
      <p:sp>
        <p:nvSpPr>
          <p:cNvPr id="14" name="Text 9"/>
          <p:cNvSpPr/>
          <p:nvPr/>
        </p:nvSpPr>
        <p:spPr>
          <a:xfrm>
            <a:off x="8583497" y="3262809"/>
            <a:ext cx="2737476" cy="591145"/>
          </a:xfrm>
          <a:prstGeom prst="rect">
            <a:avLst/>
          </a:prstGeom>
          <a:noFill/>
          <a:ln/>
        </p:spPr>
        <p:txBody>
          <a:bodyPr wrap="square" lIns="0" tIns="0" rIns="0" bIns="0" rtlCol="0" anchor="t">
            <a:normAutofit/>
          </a:bodyPr>
          <a:lstStyle/>
          <a:p>
            <a:pPr marL="0" indent="0" algn="l">
              <a:lnSpc>
                <a:spcPct val="114000"/>
              </a:lnSpc>
              <a:buNone/>
            </a:pPr>
            <a:r>
              <a:rPr lang="en-US" sz="1100" dirty="0">
                <a:solidFill>
                  <a:srgbClr val="E2E6E9"/>
                </a:solidFill>
                <a:latin typeface="Merriweather" pitchFamily="34" charset="0"/>
                <a:ea typeface="Merriweather" pitchFamily="34" charset="-122"/>
                <a:cs typeface="Merriweather" pitchFamily="34" charset="-120"/>
              </a:rPr>
              <a:t>Achieved all project goals, including bidirectional shifting, parallel loading, and synchronous operation.</a:t>
            </a:r>
            <a:endParaRPr lang="en-US" sz="1100" dirty="0"/>
          </a:p>
        </p:txBody>
      </p:sp>
      <p:sp>
        <p:nvSpPr>
          <p:cNvPr id="15" name="Shape 10"/>
          <p:cNvSpPr/>
          <p:nvPr/>
        </p:nvSpPr>
        <p:spPr>
          <a:xfrm>
            <a:off x="5291700" y="4106466"/>
            <a:ext cx="6180181" cy="1518245"/>
          </a:xfrm>
          <a:prstGeom prst="roundRect">
            <a:avLst>
              <a:gd name="adj" fmla="val 4001"/>
            </a:avLst>
          </a:prstGeom>
          <a:solidFill>
            <a:srgbClr val="003180"/>
          </a:solidFill>
          <a:ln w="6350">
            <a:solidFill>
              <a:srgbClr val="194A99"/>
            </a:solidFill>
            <a:prstDash val="solid"/>
          </a:ln>
        </p:spPr>
      </p:sp>
      <p:sp>
        <p:nvSpPr>
          <p:cNvPr id="16" name="Shape 11"/>
          <p:cNvSpPr/>
          <p:nvPr/>
        </p:nvSpPr>
        <p:spPr>
          <a:xfrm>
            <a:off x="5442608" y="4257377"/>
            <a:ext cx="433873" cy="433884"/>
          </a:xfrm>
          <a:prstGeom prst="ellipse">
            <a:avLst/>
          </a:prstGeom>
          <a:solidFill>
            <a:srgbClr val="609DFF"/>
          </a:solidFill>
          <a:ln/>
        </p:spPr>
      </p:sp>
      <p:pic>
        <p:nvPicPr>
          <p:cNvPr id="17"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561965" y="4376738"/>
            <a:ext cx="195158" cy="195163"/>
          </a:xfrm>
          <a:prstGeom prst="rect">
            <a:avLst/>
          </a:prstGeom>
        </p:spPr>
      </p:pic>
      <p:sp>
        <p:nvSpPr>
          <p:cNvPr id="18" name="Text 12"/>
          <p:cNvSpPr/>
          <p:nvPr/>
        </p:nvSpPr>
        <p:spPr>
          <a:xfrm>
            <a:off x="5442608" y="4792861"/>
            <a:ext cx="5878365" cy="225921"/>
          </a:xfrm>
          <a:prstGeom prst="rect">
            <a:avLst/>
          </a:prstGeom>
          <a:noFill/>
          <a:ln/>
        </p:spPr>
        <p:txBody>
          <a:bodyPr wrap="none" lIns="0" tIns="0" rIns="0" bIns="0" rtlCol="0" anchor="t"/>
          <a:lstStyle/>
          <a:p>
            <a:pPr marL="0" indent="0" algn="l">
              <a:lnSpc>
                <a:spcPct val="104000"/>
              </a:lnSpc>
              <a:buNone/>
            </a:pPr>
            <a:r>
              <a:rPr lang="en-US" sz="1400" dirty="0">
                <a:solidFill>
                  <a:srgbClr val="E2E6E9"/>
                </a:solidFill>
                <a:latin typeface="Merriweather" pitchFamily="34" charset="0"/>
                <a:ea typeface="Merriweather" pitchFamily="34" charset="-122"/>
                <a:cs typeface="Merriweather" pitchFamily="34" charset="-120"/>
              </a:rPr>
              <a:t>Validated Practicality</a:t>
            </a:r>
            <a:endParaRPr lang="en-US" sz="1400" dirty="0"/>
          </a:p>
        </p:txBody>
      </p:sp>
      <p:sp>
        <p:nvSpPr>
          <p:cNvPr id="19" name="Text 13"/>
          <p:cNvSpPr/>
          <p:nvPr/>
        </p:nvSpPr>
        <p:spPr>
          <a:xfrm>
            <a:off x="5442608" y="5079702"/>
            <a:ext cx="5878365" cy="394097"/>
          </a:xfrm>
          <a:prstGeom prst="rect">
            <a:avLst/>
          </a:prstGeom>
          <a:noFill/>
          <a:ln/>
        </p:spPr>
        <p:txBody>
          <a:bodyPr wrap="square" lIns="0" tIns="0" rIns="0" bIns="0" rtlCol="0" anchor="t">
            <a:normAutofit/>
          </a:bodyPr>
          <a:lstStyle/>
          <a:p>
            <a:pPr marL="0" indent="0" algn="l">
              <a:lnSpc>
                <a:spcPct val="114000"/>
              </a:lnSpc>
              <a:buNone/>
            </a:pPr>
            <a:r>
              <a:rPr lang="en-US" sz="1100" dirty="0">
                <a:solidFill>
                  <a:srgbClr val="E2E6E9"/>
                </a:solidFill>
                <a:latin typeface="Merriweather" pitchFamily="34" charset="0"/>
                <a:ea typeface="Merriweather" pitchFamily="34" charset="-122"/>
                <a:cs typeface="Merriweather" pitchFamily="34" charset="-120"/>
              </a:rPr>
              <a:t>Demonstrated real-world utility in data conversion, signal processing, and flexible digital data manipulation.</a:t>
            </a:r>
            <a:endParaRPr lang="en-US" sz="1100" dirty="0"/>
          </a:p>
        </p:txBody>
      </p:sp>
      <p:sp>
        <p:nvSpPr>
          <p:cNvPr id="20" name="Text 14"/>
          <p:cNvSpPr/>
          <p:nvPr/>
        </p:nvSpPr>
        <p:spPr>
          <a:xfrm>
            <a:off x="5291700" y="5739110"/>
            <a:ext cx="6180181" cy="394097"/>
          </a:xfrm>
          <a:prstGeom prst="rect">
            <a:avLst/>
          </a:prstGeom>
          <a:noFill/>
          <a:ln/>
        </p:spPr>
        <p:txBody>
          <a:bodyPr wrap="square" lIns="0" tIns="0" rIns="0" bIns="0" rtlCol="0" anchor="t">
            <a:normAutofit/>
          </a:bodyPr>
          <a:lstStyle/>
          <a:p>
            <a:pPr marL="0" indent="0" algn="l">
              <a:lnSpc>
                <a:spcPct val="114000"/>
              </a:lnSpc>
              <a:buNone/>
            </a:pPr>
            <a:r>
              <a:rPr lang="en-US" sz="1100" dirty="0">
                <a:solidFill>
                  <a:srgbClr val="E2E6E9"/>
                </a:solidFill>
                <a:latin typeface="Merriweather" pitchFamily="34" charset="0"/>
                <a:ea typeface="Merriweather" pitchFamily="34" charset="-122"/>
                <a:cs typeface="Merriweather" pitchFamily="34" charset="-120"/>
              </a:rPr>
              <a:t>This work validates the effectiveness of multiplexer-based architecture for versatile data handling in advanced digital systems.</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19814" y="1955006"/>
            <a:ext cx="10752067" cy="642739"/>
          </a:xfrm>
          <a:prstGeom prst="rect">
            <a:avLst/>
          </a:prstGeom>
          <a:noFill/>
          <a:ln/>
        </p:spPr>
        <p:txBody>
          <a:bodyPr wrap="none" lIns="0" tIns="0" rIns="0" bIns="0" rtlCol="0" anchor="t"/>
          <a:lstStyle/>
          <a:p>
            <a:pPr marL="0" indent="0" algn="l">
              <a:lnSpc>
                <a:spcPct val="104000"/>
              </a:lnSpc>
              <a:buNone/>
            </a:pPr>
            <a:r>
              <a:rPr lang="en-US" sz="4000" dirty="0">
                <a:solidFill>
                  <a:srgbClr val="F5F0F0"/>
                </a:solidFill>
                <a:latin typeface="Merriweather" pitchFamily="34" charset="0"/>
                <a:ea typeface="Merriweather" pitchFamily="34" charset="-122"/>
                <a:cs typeface="Merriweather" pitchFamily="34" charset="-120"/>
              </a:rPr>
              <a:t>Sources</a:t>
            </a:r>
            <a:endParaRPr lang="en-US" sz="4000" dirty="0"/>
          </a:p>
        </p:txBody>
      </p:sp>
      <p:sp>
        <p:nvSpPr>
          <p:cNvPr id="3" name="Shape 1"/>
          <p:cNvSpPr/>
          <p:nvPr/>
        </p:nvSpPr>
        <p:spPr>
          <a:xfrm>
            <a:off x="719814" y="3009106"/>
            <a:ext cx="3446872" cy="1893788"/>
          </a:xfrm>
          <a:prstGeom prst="roundRect">
            <a:avLst>
              <a:gd name="adj" fmla="val 4562"/>
            </a:avLst>
          </a:prstGeom>
          <a:solidFill>
            <a:srgbClr val="09151A">
              <a:alpha val="95000"/>
            </a:srgbClr>
          </a:solidFill>
          <a:ln w="25399">
            <a:solidFill>
              <a:srgbClr val="194A99"/>
            </a:solidFill>
            <a:prstDash val="solid"/>
          </a:ln>
        </p:spPr>
      </p:sp>
      <p:sp>
        <p:nvSpPr>
          <p:cNvPr id="4" name="Text 2"/>
          <p:cNvSpPr/>
          <p:nvPr/>
        </p:nvSpPr>
        <p:spPr>
          <a:xfrm>
            <a:off x="950889" y="3240187"/>
            <a:ext cx="2984723" cy="321270"/>
          </a:xfrm>
          <a:prstGeom prst="rect">
            <a:avLst/>
          </a:prstGeom>
          <a:noFill/>
          <a:ln/>
        </p:spPr>
        <p:txBody>
          <a:bodyPr wrap="none" lIns="0" tIns="0" rIns="0" bIns="0" rtlCol="0" anchor="t"/>
          <a:lstStyle/>
          <a:p>
            <a:pPr marL="0" indent="0" algn="l">
              <a:lnSpc>
                <a:spcPct val="104000"/>
              </a:lnSpc>
              <a:buNone/>
            </a:pPr>
            <a:r>
              <a:rPr lang="en-US" sz="2000" dirty="0">
                <a:solidFill>
                  <a:srgbClr val="E2E6E9"/>
                </a:solidFill>
                <a:latin typeface="Merriweather" pitchFamily="34" charset="0"/>
                <a:ea typeface="Merriweather" pitchFamily="34" charset="-122"/>
                <a:cs typeface="Merriweather" pitchFamily="34" charset="-120"/>
              </a:rPr>
              <a:t>elprocus.com</a:t>
            </a:r>
            <a:endParaRPr lang="en-US" sz="2000" dirty="0"/>
          </a:p>
        </p:txBody>
      </p:sp>
      <p:sp>
        <p:nvSpPr>
          <p:cNvPr id="5" name="Text 3"/>
          <p:cNvSpPr/>
          <p:nvPr/>
        </p:nvSpPr>
        <p:spPr>
          <a:xfrm>
            <a:off x="950889" y="3684786"/>
            <a:ext cx="2984723" cy="987028"/>
          </a:xfrm>
          <a:prstGeom prst="rect">
            <a:avLst/>
          </a:prstGeom>
          <a:noFill/>
          <a:ln/>
        </p:spPr>
        <p:txBody>
          <a:bodyPr wrap="square" lIns="0" tIns="0" rIns="0" bIns="0" rtlCol="0" anchor="t">
            <a:normAutofit/>
          </a:bodyPr>
          <a:lstStyle/>
          <a:p>
            <a:pPr marL="0" indent="0" algn="l">
              <a:lnSpc>
                <a:spcPct val="133000"/>
              </a:lnSpc>
              <a:buNone/>
            </a:pPr>
            <a:r>
              <a:rPr lang="en-US" sz="1600" b="1" u="sng" dirty="0">
                <a:solidFill>
                  <a:srgbClr val="609DFF"/>
                </a:solidFill>
                <a:latin typeface="Merriweather Bold" pitchFamily="34" charset="0"/>
                <a:ea typeface="Merriweather Bold" pitchFamily="34" charset="-122"/>
                <a:cs typeface="Merriweather Bold" pitchFamily="34" charset="-120"/>
                <a:hlinkClick r:id="rId3">
                  <a:extLst>
                    <a:ext uri="{A12FA001-AC4F-418D-AE19-62706E023703}">
                      <ahyp:hlinkClr xmlns:ahyp="http://schemas.microsoft.com/office/drawing/2018/hyperlinkcolor" val="tx"/>
                    </a:ext>
                  </a:extLst>
                </a:hlinkClick>
              </a:rPr>
              <a:t>Universal Shift Register: Design, Working &amp; Its Applications</a:t>
            </a:r>
            <a:endParaRPr lang="en-US" sz="1600" dirty="0"/>
          </a:p>
        </p:txBody>
      </p:sp>
      <p:sp>
        <p:nvSpPr>
          <p:cNvPr id="6" name="Shape 4"/>
          <p:cNvSpPr/>
          <p:nvPr/>
        </p:nvSpPr>
        <p:spPr>
          <a:xfrm>
            <a:off x="4372362" y="3009106"/>
            <a:ext cx="3446872" cy="1893788"/>
          </a:xfrm>
          <a:prstGeom prst="roundRect">
            <a:avLst>
              <a:gd name="adj" fmla="val 4562"/>
            </a:avLst>
          </a:prstGeom>
          <a:solidFill>
            <a:srgbClr val="09151A">
              <a:alpha val="95000"/>
            </a:srgbClr>
          </a:solidFill>
          <a:ln w="25399">
            <a:solidFill>
              <a:srgbClr val="194A99"/>
            </a:solidFill>
            <a:prstDash val="solid"/>
          </a:ln>
        </p:spPr>
      </p:sp>
      <p:sp>
        <p:nvSpPr>
          <p:cNvPr id="7" name="Text 5"/>
          <p:cNvSpPr/>
          <p:nvPr/>
        </p:nvSpPr>
        <p:spPr>
          <a:xfrm>
            <a:off x="4603436" y="3240187"/>
            <a:ext cx="2984723" cy="321270"/>
          </a:xfrm>
          <a:prstGeom prst="rect">
            <a:avLst/>
          </a:prstGeom>
          <a:noFill/>
          <a:ln/>
        </p:spPr>
        <p:txBody>
          <a:bodyPr wrap="none" lIns="0" tIns="0" rIns="0" bIns="0" rtlCol="0" anchor="t"/>
          <a:lstStyle/>
          <a:p>
            <a:pPr marL="0" indent="0" algn="l">
              <a:lnSpc>
                <a:spcPct val="104000"/>
              </a:lnSpc>
              <a:buNone/>
            </a:pPr>
            <a:r>
              <a:rPr lang="en-US" sz="2000" dirty="0">
                <a:solidFill>
                  <a:srgbClr val="E2E6E9"/>
                </a:solidFill>
                <a:latin typeface="Merriweather" pitchFamily="34" charset="0"/>
                <a:ea typeface="Merriweather" pitchFamily="34" charset="-122"/>
                <a:cs typeface="Merriweather" pitchFamily="34" charset="-120"/>
              </a:rPr>
              <a:t>GitHub</a:t>
            </a:r>
            <a:endParaRPr lang="en-US" sz="2000" dirty="0"/>
          </a:p>
        </p:txBody>
      </p:sp>
      <p:sp>
        <p:nvSpPr>
          <p:cNvPr id="8" name="Text 6"/>
          <p:cNvSpPr/>
          <p:nvPr/>
        </p:nvSpPr>
        <p:spPr>
          <a:xfrm>
            <a:off x="4603436" y="3684786"/>
            <a:ext cx="2984723" cy="658019"/>
          </a:xfrm>
          <a:prstGeom prst="rect">
            <a:avLst/>
          </a:prstGeom>
          <a:noFill/>
          <a:ln/>
        </p:spPr>
        <p:txBody>
          <a:bodyPr wrap="square" lIns="0" tIns="0" rIns="0" bIns="0" rtlCol="0" anchor="t">
            <a:normAutofit/>
          </a:bodyPr>
          <a:lstStyle/>
          <a:p>
            <a:pPr marL="0" indent="0" algn="l">
              <a:lnSpc>
                <a:spcPct val="133000"/>
              </a:lnSpc>
              <a:buNone/>
            </a:pPr>
            <a:r>
              <a:rPr lang="en-US" sz="1600" b="1" u="sng" dirty="0">
                <a:solidFill>
                  <a:srgbClr val="609DFF"/>
                </a:solidFill>
                <a:latin typeface="Merriweather Bold" pitchFamily="34" charset="0"/>
                <a:ea typeface="Merriweather Bold" pitchFamily="34" charset="-122"/>
                <a:cs typeface="Merriweather Bold" pitchFamily="34" charset="-120"/>
                <a:hlinkClick r:id="rId4">
                  <a:extLst>
                    <a:ext uri="{A12FA001-AC4F-418D-AE19-62706E023703}">
                      <ahyp:hlinkClr xmlns:ahyp="http://schemas.microsoft.com/office/drawing/2018/hyperlinkcolor" val="tx"/>
                    </a:ext>
                  </a:extLst>
                </a:hlinkClick>
              </a:rPr>
              <a:t>DebanganaMukherjee / iiitb_usr</a:t>
            </a:r>
            <a:endParaRPr lang="en-US" sz="1600" dirty="0"/>
          </a:p>
        </p:txBody>
      </p:sp>
      <p:sp>
        <p:nvSpPr>
          <p:cNvPr id="9" name="Shape 7"/>
          <p:cNvSpPr/>
          <p:nvPr/>
        </p:nvSpPr>
        <p:spPr>
          <a:xfrm>
            <a:off x="8024909" y="3009106"/>
            <a:ext cx="3446872" cy="1893788"/>
          </a:xfrm>
          <a:prstGeom prst="roundRect">
            <a:avLst>
              <a:gd name="adj" fmla="val 4562"/>
            </a:avLst>
          </a:prstGeom>
          <a:solidFill>
            <a:srgbClr val="09151A">
              <a:alpha val="95000"/>
            </a:srgbClr>
          </a:solidFill>
          <a:ln w="25399">
            <a:solidFill>
              <a:srgbClr val="194A99"/>
            </a:solidFill>
            <a:prstDash val="solid"/>
          </a:ln>
        </p:spPr>
      </p:sp>
      <p:sp>
        <p:nvSpPr>
          <p:cNvPr id="10" name="Text 8"/>
          <p:cNvSpPr/>
          <p:nvPr/>
        </p:nvSpPr>
        <p:spPr>
          <a:xfrm>
            <a:off x="8255984" y="3240187"/>
            <a:ext cx="2984723" cy="321270"/>
          </a:xfrm>
          <a:prstGeom prst="rect">
            <a:avLst/>
          </a:prstGeom>
          <a:noFill/>
          <a:ln/>
        </p:spPr>
        <p:txBody>
          <a:bodyPr wrap="none" lIns="0" tIns="0" rIns="0" bIns="0" rtlCol="0" anchor="t"/>
          <a:lstStyle/>
          <a:p>
            <a:pPr marL="0" indent="0" algn="l">
              <a:lnSpc>
                <a:spcPct val="104000"/>
              </a:lnSpc>
              <a:buNone/>
            </a:pPr>
            <a:r>
              <a:rPr lang="en-US" sz="2000" dirty="0">
                <a:solidFill>
                  <a:srgbClr val="E2E6E9"/>
                </a:solidFill>
                <a:latin typeface="Merriweather" pitchFamily="34" charset="0"/>
                <a:ea typeface="Merriweather" pitchFamily="34" charset="-122"/>
                <a:cs typeface="Merriweather" pitchFamily="34" charset="-120"/>
              </a:rPr>
              <a:t>Wikipedia</a:t>
            </a:r>
            <a:endParaRPr lang="en-US" sz="2000" dirty="0"/>
          </a:p>
        </p:txBody>
      </p:sp>
      <p:sp>
        <p:nvSpPr>
          <p:cNvPr id="11" name="Text 9"/>
          <p:cNvSpPr/>
          <p:nvPr/>
        </p:nvSpPr>
        <p:spPr>
          <a:xfrm>
            <a:off x="8255984" y="3684786"/>
            <a:ext cx="2984723" cy="329009"/>
          </a:xfrm>
          <a:prstGeom prst="rect">
            <a:avLst/>
          </a:prstGeom>
          <a:noFill/>
          <a:ln/>
        </p:spPr>
        <p:txBody>
          <a:bodyPr wrap="none" lIns="0" tIns="0" rIns="0" bIns="0" rtlCol="0" anchor="t"/>
          <a:lstStyle/>
          <a:p>
            <a:pPr marL="0" indent="0" algn="l">
              <a:lnSpc>
                <a:spcPct val="133000"/>
              </a:lnSpc>
              <a:buNone/>
            </a:pPr>
            <a:r>
              <a:rPr lang="en-US" sz="1600" b="1" u="sng" dirty="0">
                <a:solidFill>
                  <a:srgbClr val="609DFF"/>
                </a:solidFill>
                <a:latin typeface="Merriweather Bold" pitchFamily="34" charset="0"/>
                <a:ea typeface="Merriweather Bold" pitchFamily="34" charset="-122"/>
                <a:cs typeface="Merriweather Bold" pitchFamily="34" charset="-120"/>
                <a:hlinkClick r:id="rId5">
                  <a:extLst>
                    <a:ext uri="{A12FA001-AC4F-418D-AE19-62706E023703}">
                      <ahyp:hlinkClr xmlns:ahyp="http://schemas.microsoft.com/office/drawing/2018/hyperlinkcolor" val="tx"/>
                    </a:ext>
                  </a:extLst>
                </a:hlinkClick>
              </a:rPr>
              <a:t>Shift Register — Wikipedia</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609DFF"/>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TotalTime>
  <Words>1165</Words>
  <Application>Microsoft Office PowerPoint</Application>
  <PresentationFormat>Widescreen</PresentationFormat>
  <Paragraphs>188</Paragraphs>
  <Slides>17</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Merriweather</vt:lpstr>
      <vt:lpstr>Merriweather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Kondamede Aditya</cp:lastModifiedBy>
  <cp:revision>6</cp:revision>
  <dcterms:created xsi:type="dcterms:W3CDTF">2026-09-11T05:58:39Z</dcterms:created>
  <dcterms:modified xsi:type="dcterms:W3CDTF">2026-09-19T08:27:42Z</dcterms:modified>
</cp:coreProperties>
</file>